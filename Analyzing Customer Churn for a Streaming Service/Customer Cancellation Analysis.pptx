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3"/>
  </p:notesMasterIdLst>
  <p:sldIdLst>
    <p:sldId id="2767" r:id="rId5"/>
    <p:sldId id="2770" r:id="rId6"/>
    <p:sldId id="2771" r:id="rId7"/>
    <p:sldId id="2772" r:id="rId8"/>
    <p:sldId id="2773" r:id="rId9"/>
    <p:sldId id="2774" r:id="rId10"/>
    <p:sldId id="2775" r:id="rId11"/>
    <p:sldId id="277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912B"/>
    <a:srgbClr val="E1A327"/>
    <a:srgbClr val="80B8DA"/>
    <a:srgbClr val="98C2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4902" autoAdjust="0"/>
  </p:normalViewPr>
  <p:slideViewPr>
    <p:cSldViewPr snapToGrid="0">
      <p:cViewPr varScale="1">
        <p:scale>
          <a:sx n="74" d="100"/>
          <a:sy n="74" d="100"/>
        </p:scale>
        <p:origin x="106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r>
              <a:rPr lang="en-US" sz="1400">
                <a:solidFill>
                  <a:schemeClr val="bg1">
                    <a:lumMod val="50000"/>
                  </a:schemeClr>
                </a:solidFill>
              </a:rPr>
              <a:t>Active subscribers by month</a:t>
            </a:r>
          </a:p>
        </c:rich>
      </c:tx>
      <c:layout>
        <c:manualLayout>
          <c:xMode val="edge"/>
          <c:yMode val="edge"/>
          <c:x val="8.2174739448414823E-3"/>
          <c:y val="1.5533980582524271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1"/>
          <c:order val="0"/>
          <c:spPr>
            <a:ln w="28575" cap="rnd">
              <a:solidFill>
                <a:srgbClr val="0070C0"/>
              </a:solidFill>
              <a:round/>
            </a:ln>
            <a:effectLst/>
          </c:spPr>
          <c:marker>
            <c:symbol val="circle"/>
            <c:size val="5"/>
            <c:spPr>
              <a:solidFill>
                <a:schemeClr val="accent2"/>
              </a:solidFill>
              <a:ln w="9525">
                <a:solidFill>
                  <a:schemeClr val="accent2"/>
                </a:solidFill>
              </a:ln>
              <a:effectLst/>
            </c:spPr>
          </c:marker>
          <c:dPt>
            <c:idx val="0"/>
            <c:marker>
              <c:symbol val="circle"/>
              <c:size val="5"/>
              <c:spPr>
                <a:solidFill>
                  <a:srgbClr val="0070C0"/>
                </a:solidFill>
                <a:ln w="9525">
                  <a:solidFill>
                    <a:srgbClr val="0070C0"/>
                  </a:solidFill>
                </a:ln>
                <a:effectLst/>
              </c:spPr>
            </c:marker>
            <c:bubble3D val="0"/>
            <c:extLst>
              <c:ext xmlns:c16="http://schemas.microsoft.com/office/drawing/2014/chart" uri="{C3380CC4-5D6E-409C-BE32-E72D297353CC}">
                <c16:uniqueId val="{00000000-31EF-4FC3-843E-78D31AD0AA6C}"/>
              </c:ext>
            </c:extLst>
          </c:dPt>
          <c:dPt>
            <c:idx val="1"/>
            <c:marker>
              <c:symbol val="circle"/>
              <c:size val="5"/>
              <c:spPr>
                <a:noFill/>
                <a:ln w="9525">
                  <a:noFill/>
                </a:ln>
                <a:effectLst/>
              </c:spPr>
            </c:marker>
            <c:bubble3D val="0"/>
            <c:extLst>
              <c:ext xmlns:c16="http://schemas.microsoft.com/office/drawing/2014/chart" uri="{C3380CC4-5D6E-409C-BE32-E72D297353CC}">
                <c16:uniqueId val="{00000001-31EF-4FC3-843E-78D31AD0AA6C}"/>
              </c:ext>
            </c:extLst>
          </c:dPt>
          <c:dPt>
            <c:idx val="2"/>
            <c:marker>
              <c:symbol val="circle"/>
              <c:size val="5"/>
              <c:spPr>
                <a:noFill/>
                <a:ln w="9525">
                  <a:noFill/>
                </a:ln>
                <a:effectLst/>
              </c:spPr>
            </c:marker>
            <c:bubble3D val="0"/>
            <c:extLst>
              <c:ext xmlns:c16="http://schemas.microsoft.com/office/drawing/2014/chart" uri="{C3380CC4-5D6E-409C-BE32-E72D297353CC}">
                <c16:uniqueId val="{00000002-31EF-4FC3-843E-78D31AD0AA6C}"/>
              </c:ext>
            </c:extLst>
          </c:dPt>
          <c:dPt>
            <c:idx val="3"/>
            <c:marker>
              <c:symbol val="circle"/>
              <c:size val="5"/>
              <c:spPr>
                <a:noFill/>
                <a:ln w="9525">
                  <a:noFill/>
                </a:ln>
                <a:effectLst/>
              </c:spPr>
            </c:marker>
            <c:bubble3D val="0"/>
            <c:extLst>
              <c:ext xmlns:c16="http://schemas.microsoft.com/office/drawing/2014/chart" uri="{C3380CC4-5D6E-409C-BE32-E72D297353CC}">
                <c16:uniqueId val="{00000003-31EF-4FC3-843E-78D31AD0AA6C}"/>
              </c:ext>
            </c:extLst>
          </c:dPt>
          <c:dPt>
            <c:idx val="4"/>
            <c:marker>
              <c:symbol val="circle"/>
              <c:size val="5"/>
              <c:spPr>
                <a:solidFill>
                  <a:srgbClr val="0070C0"/>
                </a:solidFill>
                <a:ln w="9525">
                  <a:solidFill>
                    <a:srgbClr val="0070C0"/>
                  </a:solidFill>
                </a:ln>
                <a:effectLst/>
              </c:spPr>
            </c:marker>
            <c:bubble3D val="0"/>
            <c:extLst>
              <c:ext xmlns:c16="http://schemas.microsoft.com/office/drawing/2014/chart" uri="{C3380CC4-5D6E-409C-BE32-E72D297353CC}">
                <c16:uniqueId val="{00000004-31EF-4FC3-843E-78D31AD0AA6C}"/>
              </c:ext>
            </c:extLst>
          </c:dPt>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1EF-4FC3-843E-78D31AD0AA6C}"/>
                </c:ext>
              </c:extLst>
            </c:dLbl>
            <c:dLbl>
              <c:idx val="4"/>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1EF-4FC3-843E-78D31AD0AA6C}"/>
                </c:ext>
              </c:extLst>
            </c:dLbl>
            <c:spPr>
              <a:noFill/>
              <a:ln>
                <a:noFill/>
              </a:ln>
              <a:effectLst/>
            </c:spPr>
            <c:txPr>
              <a:bodyPr rot="0" spcFirstLastPara="1" vertOverflow="ellipsis" vert="horz" wrap="square" anchor="ctr" anchorCtr="1"/>
              <a:lstStyle/>
              <a:p>
                <a:pPr>
                  <a:defRPr sz="1197" b="1" i="0" u="none" strike="noStrike" kern="1200" baseline="0">
                    <a:solidFill>
                      <a:srgbClr val="0070C0"/>
                    </a:solidFill>
                    <a:latin typeface="Arial" panose="020B0604020202020204" pitchFamily="34" charset="0"/>
                    <a:ea typeface="+mn-ea"/>
                    <a:cs typeface="Arial" panose="020B0604020202020204" pitchFamily="34" charset="0"/>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Sheet1!$B$1:$F$1</c:f>
              <c:strCache>
                <c:ptCount val="5"/>
                <c:pt idx="0">
                  <c:v>January</c:v>
                </c:pt>
                <c:pt idx="1">
                  <c:v>February</c:v>
                </c:pt>
                <c:pt idx="2">
                  <c:v>March</c:v>
                </c:pt>
                <c:pt idx="3">
                  <c:v>April</c:v>
                </c:pt>
                <c:pt idx="4">
                  <c:v>May</c:v>
                </c:pt>
              </c:strCache>
            </c:strRef>
          </c:cat>
          <c:val>
            <c:numRef>
              <c:f>Sheet1!$B$2:$F$2</c:f>
              <c:numCache>
                <c:formatCode>_(* #,##0_);_(* \(#,##0\);_(* "-"??_);_(@_)</c:formatCode>
                <c:ptCount val="5"/>
                <c:pt idx="0">
                  <c:v>100000</c:v>
                </c:pt>
                <c:pt idx="1">
                  <c:v>98000</c:v>
                </c:pt>
                <c:pt idx="2">
                  <c:v>95500</c:v>
                </c:pt>
                <c:pt idx="3">
                  <c:v>92000</c:v>
                </c:pt>
                <c:pt idx="4">
                  <c:v>89500</c:v>
                </c:pt>
              </c:numCache>
            </c:numRef>
          </c:val>
          <c:smooth val="0"/>
          <c:extLst>
            <c:ext xmlns:c16="http://schemas.microsoft.com/office/drawing/2014/chart" uri="{C3380CC4-5D6E-409C-BE32-E72D297353CC}">
              <c16:uniqueId val="{00000005-31EF-4FC3-843E-78D31AD0AA6C}"/>
            </c:ext>
          </c:extLst>
        </c:ser>
        <c:dLbls>
          <c:showLegendKey val="0"/>
          <c:showVal val="0"/>
          <c:showCatName val="0"/>
          <c:showSerName val="0"/>
          <c:showPercent val="0"/>
          <c:showBubbleSize val="0"/>
        </c:dLbls>
        <c:marker val="1"/>
        <c:smooth val="0"/>
        <c:axId val="1422095391"/>
        <c:axId val="1422095871"/>
      </c:lineChart>
      <c:catAx>
        <c:axId val="1422095391"/>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Month</a:t>
                </a:r>
              </a:p>
            </c:rich>
          </c:tx>
          <c:layout>
            <c:manualLayout>
              <c:xMode val="edge"/>
              <c:yMode val="edge"/>
              <c:x val="0.16803029735033032"/>
              <c:y val="0.93717789159850162"/>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871"/>
        <c:crosses val="autoZero"/>
        <c:auto val="1"/>
        <c:lblAlgn val="ctr"/>
        <c:lblOffset val="100"/>
        <c:noMultiLvlLbl val="0"/>
      </c:catAx>
      <c:valAx>
        <c:axId val="1422095871"/>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Subscribers</a:t>
                </a:r>
              </a:p>
            </c:rich>
          </c:tx>
          <c:layout>
            <c:manualLayout>
              <c:xMode val="edge"/>
              <c:yMode val="edge"/>
              <c:x val="1.1417153761102619E-2"/>
              <c:y val="9.86556583339704E-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_(* #,##0_);_(* \(#,##0\);_(* &quot;-&quot;??_);_(@_)" sourceLinked="1"/>
        <c:majorTickMark val="out"/>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3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r>
              <a:rPr lang="en-US" sz="1400">
                <a:solidFill>
                  <a:schemeClr val="bg1">
                    <a:lumMod val="50000"/>
                  </a:schemeClr>
                </a:solidFill>
              </a:rPr>
              <a:t>New sign-ups vs. cancellations per month</a:t>
            </a:r>
          </a:p>
        </c:rich>
      </c:tx>
      <c:layout>
        <c:manualLayout>
          <c:xMode val="edge"/>
          <c:yMode val="edge"/>
          <c:x val="8.2174739448414823E-3"/>
          <c:y val="1.5533980582524271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v>New Sign Ups</c:v>
          </c:tx>
          <c:spPr>
            <a:ln w="28575" cap="rnd">
              <a:solidFill>
                <a:srgbClr val="0070C0"/>
              </a:solidFill>
              <a:round/>
            </a:ln>
            <a:effectLst/>
          </c:spPr>
          <c:marker>
            <c:symbol val="none"/>
          </c:marker>
          <c:cat>
            <c:strRef>
              <c:f>Sheet1!$B$1:$F$1</c:f>
              <c:strCache>
                <c:ptCount val="5"/>
                <c:pt idx="0">
                  <c:v>January</c:v>
                </c:pt>
                <c:pt idx="1">
                  <c:v>February</c:v>
                </c:pt>
                <c:pt idx="2">
                  <c:v>March</c:v>
                </c:pt>
                <c:pt idx="3">
                  <c:v>April</c:v>
                </c:pt>
                <c:pt idx="4">
                  <c:v>May</c:v>
                </c:pt>
              </c:strCache>
            </c:strRef>
          </c:cat>
          <c:val>
            <c:numRef>
              <c:f>Sheet1!$B$3:$F$3</c:f>
              <c:numCache>
                <c:formatCode>_(* #,##0_);_(* \(#,##0\);_(* "-"??_);_(@_)</c:formatCode>
                <c:ptCount val="5"/>
                <c:pt idx="0">
                  <c:v>8000</c:v>
                </c:pt>
                <c:pt idx="1">
                  <c:v>7500</c:v>
                </c:pt>
                <c:pt idx="2">
                  <c:v>7200</c:v>
                </c:pt>
                <c:pt idx="3">
                  <c:v>6800</c:v>
                </c:pt>
                <c:pt idx="4">
                  <c:v>6500</c:v>
                </c:pt>
              </c:numCache>
            </c:numRef>
          </c:val>
          <c:smooth val="0"/>
          <c:extLst>
            <c:ext xmlns:c16="http://schemas.microsoft.com/office/drawing/2014/chart" uri="{C3380CC4-5D6E-409C-BE32-E72D297353CC}">
              <c16:uniqueId val="{00000005-ED4D-47EB-AE84-EFFDB8DF393B}"/>
            </c:ext>
          </c:extLst>
        </c:ser>
        <c:ser>
          <c:idx val="1"/>
          <c:order val="1"/>
          <c:tx>
            <c:v>Churn</c:v>
          </c:tx>
          <c:spPr>
            <a:ln w="28575" cap="rnd">
              <a:solidFill>
                <a:srgbClr val="DD912B"/>
              </a:solidFill>
              <a:round/>
            </a:ln>
            <a:effectLst/>
          </c:spPr>
          <c:marker>
            <c:symbol val="none"/>
          </c:marker>
          <c:dPt>
            <c:idx val="4"/>
            <c:marker>
              <c:symbol val="circle"/>
              <c:size val="6"/>
              <c:spPr>
                <a:solidFill>
                  <a:srgbClr val="DD912B"/>
                </a:solidFill>
                <a:ln w="9525">
                  <a:solidFill>
                    <a:srgbClr val="DD912B"/>
                  </a:solidFill>
                </a:ln>
                <a:effectLst/>
              </c:spPr>
            </c:marker>
            <c:bubble3D val="0"/>
            <c:extLst>
              <c:ext xmlns:c16="http://schemas.microsoft.com/office/drawing/2014/chart" uri="{C3380CC4-5D6E-409C-BE32-E72D297353CC}">
                <c16:uniqueId val="{00000000-3249-49F8-BE10-7FA6402C6313}"/>
              </c:ext>
            </c:extLst>
          </c:dPt>
          <c:cat>
            <c:strRef>
              <c:f>Sheet1!$B$1:$F$1</c:f>
              <c:strCache>
                <c:ptCount val="5"/>
                <c:pt idx="0">
                  <c:v>January</c:v>
                </c:pt>
                <c:pt idx="1">
                  <c:v>February</c:v>
                </c:pt>
                <c:pt idx="2">
                  <c:v>March</c:v>
                </c:pt>
                <c:pt idx="3">
                  <c:v>April</c:v>
                </c:pt>
                <c:pt idx="4">
                  <c:v>May</c:v>
                </c:pt>
              </c:strCache>
            </c:strRef>
          </c:cat>
          <c:val>
            <c:numRef>
              <c:f>Sheet1!$B$4:$F$4</c:f>
              <c:numCache>
                <c:formatCode>_(* #,##0_);_(* \(#,##0\);_(* "-"??_);_(@_)</c:formatCode>
                <c:ptCount val="5"/>
                <c:pt idx="0">
                  <c:v>5000</c:v>
                </c:pt>
                <c:pt idx="1">
                  <c:v>5500</c:v>
                </c:pt>
                <c:pt idx="2">
                  <c:v>5800</c:v>
                </c:pt>
                <c:pt idx="3">
                  <c:v>6200</c:v>
                </c:pt>
                <c:pt idx="4">
                  <c:v>6500</c:v>
                </c:pt>
              </c:numCache>
            </c:numRef>
          </c:val>
          <c:smooth val="0"/>
          <c:extLst>
            <c:ext xmlns:c16="http://schemas.microsoft.com/office/drawing/2014/chart" uri="{C3380CC4-5D6E-409C-BE32-E72D297353CC}">
              <c16:uniqueId val="{00000006-ED4D-47EB-AE84-EFFDB8DF393B}"/>
            </c:ext>
          </c:extLst>
        </c:ser>
        <c:dLbls>
          <c:showLegendKey val="0"/>
          <c:showVal val="0"/>
          <c:showCatName val="0"/>
          <c:showSerName val="0"/>
          <c:showPercent val="0"/>
          <c:showBubbleSize val="0"/>
        </c:dLbls>
        <c:smooth val="0"/>
        <c:axId val="1422095391"/>
        <c:axId val="1422095871"/>
      </c:lineChart>
      <c:catAx>
        <c:axId val="1422095391"/>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Month</a:t>
                </a:r>
              </a:p>
            </c:rich>
          </c:tx>
          <c:layout>
            <c:manualLayout>
              <c:xMode val="edge"/>
              <c:yMode val="edge"/>
              <c:x val="0.16350552417135847"/>
              <c:y val="0.93717789159850162"/>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871"/>
        <c:crosses val="autoZero"/>
        <c:auto val="1"/>
        <c:lblAlgn val="ctr"/>
        <c:lblOffset val="100"/>
        <c:noMultiLvlLbl val="0"/>
      </c:catAx>
      <c:valAx>
        <c:axId val="1422095871"/>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Subscribers</a:t>
                </a:r>
              </a:p>
            </c:rich>
          </c:tx>
          <c:layout>
            <c:manualLayout>
              <c:xMode val="edge"/>
              <c:yMode val="edge"/>
              <c:x val="1.1417153761102619E-2"/>
              <c:y val="9.86556583339704E-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_(* #,##0_);_(* \(#,##0\);_(* &quot;-&quot;??_);_(@_)" sourceLinked="1"/>
        <c:majorTickMark val="out"/>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3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r>
              <a:rPr lang="en-US" sz="1400">
                <a:solidFill>
                  <a:schemeClr val="bg1">
                    <a:lumMod val="50000"/>
                  </a:schemeClr>
                </a:solidFill>
              </a:rPr>
              <a:t>Daily customer support tickets submitted since January</a:t>
            </a:r>
          </a:p>
        </c:rich>
      </c:tx>
      <c:layout>
        <c:manualLayout>
          <c:xMode val="edge"/>
          <c:yMode val="edge"/>
          <c:x val="8.2174739448414823E-3"/>
          <c:y val="1.5533980582524271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strRef>
              <c:f>Sheet1!$A$6</c:f>
              <c:strCache>
                <c:ptCount val="1"/>
                <c:pt idx="0">
                  <c:v>Customer Support Tickets (avg. per day)</c:v>
                </c:pt>
              </c:strCache>
            </c:strRef>
          </c:tx>
          <c:spPr>
            <a:ln w="28575" cap="rnd">
              <a:solidFill>
                <a:srgbClr val="0070C0"/>
              </a:solidFill>
              <a:round/>
            </a:ln>
            <a:effectLst/>
          </c:spPr>
          <c:marker>
            <c:symbol val="none"/>
          </c:marker>
          <c:cat>
            <c:strRef>
              <c:f>Sheet1!$B$1:$F$1</c:f>
              <c:strCache>
                <c:ptCount val="5"/>
                <c:pt idx="0">
                  <c:v>January</c:v>
                </c:pt>
                <c:pt idx="1">
                  <c:v>February</c:v>
                </c:pt>
                <c:pt idx="2">
                  <c:v>March</c:v>
                </c:pt>
                <c:pt idx="3">
                  <c:v>April</c:v>
                </c:pt>
                <c:pt idx="4">
                  <c:v>May</c:v>
                </c:pt>
              </c:strCache>
            </c:strRef>
          </c:cat>
          <c:val>
            <c:numRef>
              <c:f>Sheet1!$B$6:$F$6</c:f>
              <c:numCache>
                <c:formatCode>General</c:formatCode>
                <c:ptCount val="5"/>
                <c:pt idx="0">
                  <c:v>50</c:v>
                </c:pt>
                <c:pt idx="1">
                  <c:v>55</c:v>
                </c:pt>
                <c:pt idx="2">
                  <c:v>62</c:v>
                </c:pt>
                <c:pt idx="3">
                  <c:v>70</c:v>
                </c:pt>
                <c:pt idx="4">
                  <c:v>78</c:v>
                </c:pt>
              </c:numCache>
            </c:numRef>
          </c:val>
          <c:smooth val="0"/>
          <c:extLst>
            <c:ext xmlns:c16="http://schemas.microsoft.com/office/drawing/2014/chart" uri="{C3380CC4-5D6E-409C-BE32-E72D297353CC}">
              <c16:uniqueId val="{00000000-09E3-43D1-89A7-F86FEDEA974D}"/>
            </c:ext>
          </c:extLst>
        </c:ser>
        <c:dLbls>
          <c:showLegendKey val="0"/>
          <c:showVal val="0"/>
          <c:showCatName val="0"/>
          <c:showSerName val="0"/>
          <c:showPercent val="0"/>
          <c:showBubbleSize val="0"/>
        </c:dLbls>
        <c:smooth val="0"/>
        <c:axId val="1422095391"/>
        <c:axId val="1422095871"/>
      </c:lineChart>
      <c:catAx>
        <c:axId val="1422095391"/>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Month</a:t>
                </a:r>
              </a:p>
            </c:rich>
          </c:tx>
          <c:layout>
            <c:manualLayout>
              <c:xMode val="edge"/>
              <c:yMode val="edge"/>
              <c:x val="0.12807025918647116"/>
              <c:y val="0.92941090130723947"/>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871"/>
        <c:crosses val="autoZero"/>
        <c:auto val="0"/>
        <c:lblAlgn val="ctr"/>
        <c:lblOffset val="100"/>
        <c:tickLblSkip val="1"/>
        <c:noMultiLvlLbl val="0"/>
      </c:catAx>
      <c:valAx>
        <c:axId val="1422095871"/>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Tickets</a:t>
                </a:r>
              </a:p>
            </c:rich>
          </c:tx>
          <c:layout>
            <c:manualLayout>
              <c:xMode val="edge"/>
              <c:yMode val="edge"/>
              <c:x val="1.1417153761102619E-2"/>
              <c:y val="9.86556583339704E-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out"/>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391"/>
        <c:crossesAt val="1"/>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r>
              <a:rPr lang="en-US" sz="1400">
                <a:solidFill>
                  <a:schemeClr val="bg1">
                    <a:lumMod val="50000"/>
                  </a:schemeClr>
                </a:solidFill>
              </a:rPr>
              <a:t>Promotions redeemed by new customers</a:t>
            </a:r>
          </a:p>
        </c:rich>
      </c:tx>
      <c:layout>
        <c:manualLayout>
          <c:xMode val="edge"/>
          <c:yMode val="edge"/>
          <c:x val="8.2174739448414823E-3"/>
          <c:y val="1.5533980582524271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bar"/>
        <c:grouping val="clustered"/>
        <c:varyColors val="0"/>
        <c:ser>
          <c:idx val="0"/>
          <c:order val="0"/>
          <c:tx>
            <c:strRef>
              <c:f>Sheet1!$A$9</c:f>
              <c:strCache>
                <c:ptCount val="1"/>
                <c:pt idx="0">
                  <c:v>Promotion A Redeemed</c:v>
                </c:pt>
              </c:strCache>
            </c:strRef>
          </c:tx>
          <c:spPr>
            <a:solidFill>
              <a:srgbClr val="DD912B"/>
            </a:solidFill>
            <a:ln>
              <a:noFill/>
            </a:ln>
            <a:effectLst/>
          </c:spPr>
          <c:invertIfNegative val="0"/>
          <c:cat>
            <c:strRef>
              <c:f>Sheet1!$B$1:$F$1</c:f>
              <c:strCache>
                <c:ptCount val="5"/>
                <c:pt idx="0">
                  <c:v>January</c:v>
                </c:pt>
                <c:pt idx="1">
                  <c:v>February</c:v>
                </c:pt>
                <c:pt idx="2">
                  <c:v>March</c:v>
                </c:pt>
                <c:pt idx="3">
                  <c:v>April</c:v>
                </c:pt>
                <c:pt idx="4">
                  <c:v>May</c:v>
                </c:pt>
              </c:strCache>
            </c:strRef>
          </c:cat>
          <c:val>
            <c:numRef>
              <c:f>Sheet1!$B$9:$F$9</c:f>
              <c:numCache>
                <c:formatCode>_(* #,##0_);_(* \(#,##0\);_(* "-"??_);_(@_)</c:formatCode>
                <c:ptCount val="5"/>
                <c:pt idx="0">
                  <c:v>1500</c:v>
                </c:pt>
                <c:pt idx="1">
                  <c:v>1200</c:v>
                </c:pt>
                <c:pt idx="2">
                  <c:v>900</c:v>
                </c:pt>
                <c:pt idx="3">
                  <c:v>600</c:v>
                </c:pt>
                <c:pt idx="4">
                  <c:v>300</c:v>
                </c:pt>
              </c:numCache>
            </c:numRef>
          </c:val>
          <c:extLst>
            <c:ext xmlns:c16="http://schemas.microsoft.com/office/drawing/2014/chart" uri="{C3380CC4-5D6E-409C-BE32-E72D297353CC}">
              <c16:uniqueId val="{00000005-ED4D-47EB-AE84-EFFDB8DF393B}"/>
            </c:ext>
          </c:extLst>
        </c:ser>
        <c:ser>
          <c:idx val="1"/>
          <c:order val="1"/>
          <c:tx>
            <c:strRef>
              <c:f>Sheet1!$A$10</c:f>
              <c:strCache>
                <c:ptCount val="1"/>
                <c:pt idx="0">
                  <c:v>Promotion B Redeemed</c:v>
                </c:pt>
              </c:strCache>
            </c:strRef>
          </c:tx>
          <c:spPr>
            <a:solidFill>
              <a:srgbClr val="0070C0"/>
            </a:solidFill>
            <a:ln>
              <a:noFill/>
            </a:ln>
            <a:effectLst/>
          </c:spPr>
          <c:invertIfNegative val="0"/>
          <c:cat>
            <c:strRef>
              <c:f>Sheet1!$B$1:$F$1</c:f>
              <c:strCache>
                <c:ptCount val="5"/>
                <c:pt idx="0">
                  <c:v>January</c:v>
                </c:pt>
                <c:pt idx="1">
                  <c:v>February</c:v>
                </c:pt>
                <c:pt idx="2">
                  <c:v>March</c:v>
                </c:pt>
                <c:pt idx="3">
                  <c:v>April</c:v>
                </c:pt>
                <c:pt idx="4">
                  <c:v>May</c:v>
                </c:pt>
              </c:strCache>
            </c:strRef>
          </c:cat>
          <c:val>
            <c:numRef>
              <c:f>Sheet1!$B$10:$F$10</c:f>
              <c:numCache>
                <c:formatCode>_(* #,##0_);_(* \(#,##0\);_(* "-"??_);_(@_)</c:formatCode>
                <c:ptCount val="5"/>
                <c:pt idx="0">
                  <c:v>800</c:v>
                </c:pt>
                <c:pt idx="1">
                  <c:v>1000</c:v>
                </c:pt>
                <c:pt idx="2">
                  <c:v>1300</c:v>
                </c:pt>
                <c:pt idx="3">
                  <c:v>1600</c:v>
                </c:pt>
                <c:pt idx="4">
                  <c:v>1900</c:v>
                </c:pt>
              </c:numCache>
            </c:numRef>
          </c:val>
          <c:extLst>
            <c:ext xmlns:c16="http://schemas.microsoft.com/office/drawing/2014/chart" uri="{C3380CC4-5D6E-409C-BE32-E72D297353CC}">
              <c16:uniqueId val="{00000006-ED4D-47EB-AE84-EFFDB8DF393B}"/>
            </c:ext>
          </c:extLst>
        </c:ser>
        <c:dLbls>
          <c:showLegendKey val="0"/>
          <c:showVal val="0"/>
          <c:showCatName val="0"/>
          <c:showSerName val="0"/>
          <c:showPercent val="0"/>
          <c:showBubbleSize val="0"/>
        </c:dLbls>
        <c:gapWidth val="150"/>
        <c:axId val="1422095391"/>
        <c:axId val="1422095871"/>
      </c:barChart>
      <c:catAx>
        <c:axId val="1422095391"/>
        <c:scaling>
          <c:orientation val="maxMin"/>
        </c:scaling>
        <c:delete val="0"/>
        <c:axPos val="l"/>
        <c:title>
          <c:tx>
            <c:rich>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Month</a:t>
                </a:r>
              </a:p>
            </c:rich>
          </c:tx>
          <c:layout>
            <c:manualLayout>
              <c:xMode val="edge"/>
              <c:yMode val="edge"/>
              <c:x val="1.3898721575444957E-2"/>
              <c:y val="0.32528155339805825"/>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871"/>
        <c:crosses val="autoZero"/>
        <c:auto val="1"/>
        <c:lblAlgn val="ctr"/>
        <c:lblOffset val="100"/>
        <c:noMultiLvlLbl val="0"/>
      </c:catAx>
      <c:valAx>
        <c:axId val="1422095871"/>
        <c:scaling>
          <c:orientation val="minMax"/>
        </c:scaling>
        <c:delete val="0"/>
        <c:axPos val="t"/>
        <c:title>
          <c:tx>
            <c:rich>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Subscribers</a:t>
                </a:r>
              </a:p>
            </c:rich>
          </c:tx>
          <c:layout>
            <c:manualLayout>
              <c:xMode val="edge"/>
              <c:yMode val="edge"/>
              <c:x val="0.17239902179264957"/>
              <c:y val="0.16596957419157557"/>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_(* #,##0_);_(* \(#,##0\);_(* &quot;-&quot;??_);_(@_)" sourceLinked="1"/>
        <c:majorTickMark val="none"/>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39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r>
              <a:rPr lang="en-US" sz="1400">
                <a:solidFill>
                  <a:schemeClr val="bg1">
                    <a:lumMod val="50000"/>
                  </a:schemeClr>
                </a:solidFill>
              </a:rPr>
              <a:t>Daily customer support tickets submitted since January</a:t>
            </a:r>
          </a:p>
        </c:rich>
      </c:tx>
      <c:layout>
        <c:manualLayout>
          <c:xMode val="edge"/>
          <c:yMode val="edge"/>
          <c:x val="8.2174739448414823E-3"/>
          <c:y val="1.5533980582524271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strRef>
              <c:f>Sheet1!$A$6</c:f>
              <c:strCache>
                <c:ptCount val="1"/>
                <c:pt idx="0">
                  <c:v>Customer Support Tickets (avg. per day)</c:v>
                </c:pt>
              </c:strCache>
            </c:strRef>
          </c:tx>
          <c:spPr>
            <a:ln w="28575" cap="rnd">
              <a:solidFill>
                <a:srgbClr val="0070C0"/>
              </a:solidFill>
              <a:round/>
            </a:ln>
            <a:effectLst/>
          </c:spPr>
          <c:marker>
            <c:symbol val="none"/>
          </c:marker>
          <c:cat>
            <c:strRef>
              <c:f>Sheet1!$B$1:$F$1</c:f>
              <c:strCache>
                <c:ptCount val="5"/>
                <c:pt idx="0">
                  <c:v>January</c:v>
                </c:pt>
                <c:pt idx="1">
                  <c:v>February</c:v>
                </c:pt>
                <c:pt idx="2">
                  <c:v>March</c:v>
                </c:pt>
                <c:pt idx="3">
                  <c:v>April</c:v>
                </c:pt>
                <c:pt idx="4">
                  <c:v>May</c:v>
                </c:pt>
              </c:strCache>
            </c:strRef>
          </c:cat>
          <c:val>
            <c:numRef>
              <c:f>Sheet1!$B$6:$F$6</c:f>
              <c:numCache>
                <c:formatCode>General</c:formatCode>
                <c:ptCount val="5"/>
                <c:pt idx="0">
                  <c:v>50</c:v>
                </c:pt>
                <c:pt idx="1">
                  <c:v>55</c:v>
                </c:pt>
                <c:pt idx="2">
                  <c:v>62</c:v>
                </c:pt>
                <c:pt idx="3">
                  <c:v>70</c:v>
                </c:pt>
                <c:pt idx="4">
                  <c:v>78</c:v>
                </c:pt>
              </c:numCache>
            </c:numRef>
          </c:val>
          <c:smooth val="0"/>
          <c:extLst>
            <c:ext xmlns:c16="http://schemas.microsoft.com/office/drawing/2014/chart" uri="{C3380CC4-5D6E-409C-BE32-E72D297353CC}">
              <c16:uniqueId val="{00000000-D345-4E1B-88CE-8FC470B8426B}"/>
            </c:ext>
          </c:extLst>
        </c:ser>
        <c:dLbls>
          <c:showLegendKey val="0"/>
          <c:showVal val="0"/>
          <c:showCatName val="0"/>
          <c:showSerName val="0"/>
          <c:showPercent val="0"/>
          <c:showBubbleSize val="0"/>
        </c:dLbls>
        <c:smooth val="0"/>
        <c:axId val="1422095391"/>
        <c:axId val="1422095871"/>
      </c:lineChart>
      <c:catAx>
        <c:axId val="1422095391"/>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Month</a:t>
                </a:r>
              </a:p>
            </c:rich>
          </c:tx>
          <c:layout>
            <c:manualLayout>
              <c:xMode val="edge"/>
              <c:yMode val="edge"/>
              <c:x val="0.15264053020354854"/>
              <c:y val="0.92614208468290737"/>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871"/>
        <c:crosses val="autoZero"/>
        <c:auto val="0"/>
        <c:lblAlgn val="ctr"/>
        <c:lblOffset val="100"/>
        <c:tickLblSkip val="1"/>
        <c:noMultiLvlLbl val="0"/>
      </c:catAx>
      <c:valAx>
        <c:axId val="1422095871"/>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Tickets</a:t>
                </a:r>
              </a:p>
            </c:rich>
          </c:tx>
          <c:layout>
            <c:manualLayout>
              <c:xMode val="edge"/>
              <c:yMode val="edge"/>
              <c:x val="1.3464678274381433E-2"/>
              <c:y val="0.19345198261288549"/>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out"/>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391"/>
        <c:crossesAt val="1"/>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r>
              <a:rPr lang="en-US" sz="1400">
                <a:solidFill>
                  <a:schemeClr val="bg1">
                    <a:lumMod val="50000"/>
                  </a:schemeClr>
                </a:solidFill>
              </a:rPr>
              <a:t>Promotions redeemed by new customers</a:t>
            </a:r>
          </a:p>
        </c:rich>
      </c:tx>
      <c:layout>
        <c:manualLayout>
          <c:xMode val="edge"/>
          <c:yMode val="edge"/>
          <c:x val="8.2174739448414823E-3"/>
          <c:y val="1.5533980582524271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bg1">
                  <a:lumMod val="50000"/>
                </a:schemeClr>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bar"/>
        <c:grouping val="clustered"/>
        <c:varyColors val="0"/>
        <c:ser>
          <c:idx val="0"/>
          <c:order val="0"/>
          <c:tx>
            <c:strRef>
              <c:f>Sheet1!$A$9</c:f>
              <c:strCache>
                <c:ptCount val="1"/>
                <c:pt idx="0">
                  <c:v>Promotion A Redeemed</c:v>
                </c:pt>
              </c:strCache>
            </c:strRef>
          </c:tx>
          <c:spPr>
            <a:solidFill>
              <a:schemeClr val="bg1">
                <a:lumMod val="65000"/>
              </a:schemeClr>
            </a:solidFill>
            <a:ln>
              <a:noFill/>
            </a:ln>
            <a:effectLst/>
          </c:spPr>
          <c:invertIfNegative val="0"/>
          <c:cat>
            <c:strRef>
              <c:f>Sheet1!$B$1:$F$1</c:f>
              <c:strCache>
                <c:ptCount val="5"/>
                <c:pt idx="0">
                  <c:v>January</c:v>
                </c:pt>
                <c:pt idx="1">
                  <c:v>February</c:v>
                </c:pt>
                <c:pt idx="2">
                  <c:v>March</c:v>
                </c:pt>
                <c:pt idx="3">
                  <c:v>April</c:v>
                </c:pt>
                <c:pt idx="4">
                  <c:v>May</c:v>
                </c:pt>
              </c:strCache>
            </c:strRef>
          </c:cat>
          <c:val>
            <c:numRef>
              <c:f>Sheet1!$B$9:$F$9</c:f>
              <c:numCache>
                <c:formatCode>_(* #,##0_);_(* \(#,##0\);_(* "-"??_);_(@_)</c:formatCode>
                <c:ptCount val="5"/>
                <c:pt idx="0">
                  <c:v>1500</c:v>
                </c:pt>
                <c:pt idx="1">
                  <c:v>1200</c:v>
                </c:pt>
                <c:pt idx="2">
                  <c:v>900</c:v>
                </c:pt>
                <c:pt idx="3">
                  <c:v>600</c:v>
                </c:pt>
                <c:pt idx="4">
                  <c:v>300</c:v>
                </c:pt>
              </c:numCache>
            </c:numRef>
          </c:val>
          <c:extLst>
            <c:ext xmlns:c16="http://schemas.microsoft.com/office/drawing/2014/chart" uri="{C3380CC4-5D6E-409C-BE32-E72D297353CC}">
              <c16:uniqueId val="{00000000-F551-416E-8170-9190DCADE165}"/>
            </c:ext>
          </c:extLst>
        </c:ser>
        <c:ser>
          <c:idx val="1"/>
          <c:order val="1"/>
          <c:tx>
            <c:strRef>
              <c:f>Sheet1!$A$10</c:f>
              <c:strCache>
                <c:ptCount val="1"/>
                <c:pt idx="0">
                  <c:v>Promotion B Redeemed</c:v>
                </c:pt>
              </c:strCache>
            </c:strRef>
          </c:tx>
          <c:spPr>
            <a:solidFill>
              <a:srgbClr val="0070C0"/>
            </a:solidFill>
            <a:ln>
              <a:noFill/>
            </a:ln>
            <a:effectLst/>
          </c:spPr>
          <c:invertIfNegative val="0"/>
          <c:cat>
            <c:strRef>
              <c:f>Sheet1!$B$1:$F$1</c:f>
              <c:strCache>
                <c:ptCount val="5"/>
                <c:pt idx="0">
                  <c:v>January</c:v>
                </c:pt>
                <c:pt idx="1">
                  <c:v>February</c:v>
                </c:pt>
                <c:pt idx="2">
                  <c:v>March</c:v>
                </c:pt>
                <c:pt idx="3">
                  <c:v>April</c:v>
                </c:pt>
                <c:pt idx="4">
                  <c:v>May</c:v>
                </c:pt>
              </c:strCache>
            </c:strRef>
          </c:cat>
          <c:val>
            <c:numRef>
              <c:f>Sheet1!$B$10:$F$10</c:f>
              <c:numCache>
                <c:formatCode>_(* #,##0_);_(* \(#,##0\);_(* "-"??_);_(@_)</c:formatCode>
                <c:ptCount val="5"/>
                <c:pt idx="0">
                  <c:v>800</c:v>
                </c:pt>
                <c:pt idx="1">
                  <c:v>1000</c:v>
                </c:pt>
                <c:pt idx="2">
                  <c:v>1300</c:v>
                </c:pt>
                <c:pt idx="3">
                  <c:v>1600</c:v>
                </c:pt>
                <c:pt idx="4">
                  <c:v>1900</c:v>
                </c:pt>
              </c:numCache>
            </c:numRef>
          </c:val>
          <c:extLst>
            <c:ext xmlns:c16="http://schemas.microsoft.com/office/drawing/2014/chart" uri="{C3380CC4-5D6E-409C-BE32-E72D297353CC}">
              <c16:uniqueId val="{00000001-F551-416E-8170-9190DCADE165}"/>
            </c:ext>
          </c:extLst>
        </c:ser>
        <c:dLbls>
          <c:showLegendKey val="0"/>
          <c:showVal val="0"/>
          <c:showCatName val="0"/>
          <c:showSerName val="0"/>
          <c:showPercent val="0"/>
          <c:showBubbleSize val="0"/>
        </c:dLbls>
        <c:gapWidth val="150"/>
        <c:axId val="1422095391"/>
        <c:axId val="1422095871"/>
      </c:barChart>
      <c:catAx>
        <c:axId val="1422095391"/>
        <c:scaling>
          <c:orientation val="maxMin"/>
        </c:scaling>
        <c:delete val="0"/>
        <c:axPos val="l"/>
        <c:title>
          <c:tx>
            <c:rich>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Month</a:t>
                </a:r>
              </a:p>
            </c:rich>
          </c:tx>
          <c:layout>
            <c:manualLayout>
              <c:xMode val="edge"/>
              <c:yMode val="edge"/>
              <c:x val="1.7993747459734217E-2"/>
              <c:y val="0.39065823530259625"/>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871"/>
        <c:crosses val="autoZero"/>
        <c:auto val="1"/>
        <c:lblAlgn val="ctr"/>
        <c:lblOffset val="100"/>
        <c:noMultiLvlLbl val="0"/>
      </c:catAx>
      <c:valAx>
        <c:axId val="1422095871"/>
        <c:scaling>
          <c:orientation val="minMax"/>
        </c:scaling>
        <c:delete val="0"/>
        <c:axPos val="t"/>
        <c:title>
          <c:tx>
            <c:rich>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r>
                  <a:rPr lang="en-US">
                    <a:solidFill>
                      <a:schemeClr val="bg1">
                        <a:lumMod val="65000"/>
                      </a:schemeClr>
                    </a:solidFill>
                  </a:rPr>
                  <a:t>Subscribers</a:t>
                </a:r>
              </a:p>
            </c:rich>
          </c:tx>
          <c:layout>
            <c:manualLayout>
              <c:xMode val="edge"/>
              <c:yMode val="edge"/>
              <c:x val="0.34096626269084945"/>
              <c:y val="0.21827093547370829"/>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title>
        <c:numFmt formatCode="_(* #,##0_);_(* \(#,##0\);_(* &quot;-&quot;??_);_(@_)" sourceLinked="1"/>
        <c:majorTickMark val="none"/>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crossAx val="142209539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bg1">
                  <a:lumMod val="6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5/1/2026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evening, everyone!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name is Miyah Jordan, I’m a student at </a:t>
            </a:r>
            <a:r>
              <a:rPr lang="en-US" dirty="0" err="1"/>
              <a:t>Calbright</a:t>
            </a:r>
            <a:r>
              <a:rPr lang="en-US" dirty="0"/>
              <a:t> College, and this is my presentation on streaming data as part of my Module 9 assignment.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begin, I want to give a clear roadmap and communicate what to expect for this presentation. Using data given to me from the company, I will begin with some background on what the streaming service is lacking, which will explain why customers are cancelling. Then I will explain what the customers enjoy so far, to show what you can do to re-engage users and reduce cancellations.</a:t>
            </a:r>
          </a:p>
          <a:p>
            <a:endParaRPr lang="en-US" dirty="0"/>
          </a:p>
          <a:p>
            <a:r>
              <a:rPr lang="en-US" dirty="0"/>
              <a:t>This will end with a specific recommendation for you all to implement if you so choose.</a:t>
            </a:r>
          </a:p>
          <a:p>
            <a:endParaRPr lang="en-US" dirty="0"/>
          </a:p>
          <a:p>
            <a:r>
              <a:rPr lang="en-US" dirty="0"/>
              <a:t>To begin, the number of active subscriptions on the platform has dropped from 100,000 active subscribers in January, to 89,500 active subscribers in May. Overall, we have lost 10,500 users in 5 months, which is equivalent to a small indoor stadium filled with people.</a:t>
            </a:r>
          </a:p>
        </p:txBody>
      </p:sp>
      <p:sp>
        <p:nvSpPr>
          <p:cNvPr id="4" name="Slide Number Placeholder 3"/>
          <p:cNvSpPr>
            <a:spLocks noGrp="1"/>
          </p:cNvSpPr>
          <p:nvPr>
            <p:ph type="sldNum" sz="quarter" idx="5"/>
          </p:nvPr>
        </p:nvSpPr>
        <p:spPr/>
        <p:txBody>
          <a:bodyPr/>
          <a:lstStyle/>
          <a:p>
            <a:fld id="{509B9498-FDEE-4498-AC3A-C83DFCC8A50A}" type="slidenum">
              <a:rPr lang="en-US" smtClean="0"/>
              <a:t>2</a:t>
            </a:fld>
            <a:endParaRPr lang="en-US" dirty="0"/>
          </a:p>
        </p:txBody>
      </p:sp>
    </p:spTree>
    <p:extLst>
      <p:ext uri="{BB962C8B-B14F-4D97-AF65-F5344CB8AC3E}">
        <p14:creationId xmlns:p14="http://schemas.microsoft.com/office/powerpoint/2010/main" val="3547861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as of May, the number of new sign-ups per month are now equivalent to the number of cancellations this month. We are now breaking even in terms of active subscribers and cancellations. Think of this as going to the casino, putting in $6,500 during your stay, and only earning $6,500. You didn’t make any money while you were there, and that’s happening with the streaming service.</a:t>
            </a:r>
          </a:p>
        </p:txBody>
      </p:sp>
      <p:sp>
        <p:nvSpPr>
          <p:cNvPr id="4" name="Slide Number Placeholder 3"/>
          <p:cNvSpPr>
            <a:spLocks noGrp="1"/>
          </p:cNvSpPr>
          <p:nvPr>
            <p:ph type="sldNum" sz="quarter" idx="5"/>
          </p:nvPr>
        </p:nvSpPr>
        <p:spPr/>
        <p:txBody>
          <a:bodyPr/>
          <a:lstStyle/>
          <a:p>
            <a:fld id="{509B9498-FDEE-4498-AC3A-C83DFCC8A50A}" type="slidenum">
              <a:rPr lang="en-US" smtClean="0"/>
              <a:t>3</a:t>
            </a:fld>
            <a:endParaRPr lang="en-US" dirty="0"/>
          </a:p>
        </p:txBody>
      </p:sp>
    </p:spTree>
    <p:extLst>
      <p:ext uri="{BB962C8B-B14F-4D97-AF65-F5344CB8AC3E}">
        <p14:creationId xmlns:p14="http://schemas.microsoft.com/office/powerpoint/2010/main" val="2220402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believe the main issue behind the customer cancellations is the daily app crash rate. As of May, the crash rate is at 5 percent, which is a 3% increase from the rate in January (2%). Now, imagine after a stressful day of work, you get home and you just want to watch TV on your preferred streaming service. You open the website up on your laptop, TV, or phone, and you decide to watch the show you’re watching, and in the middle of the episode – right as it’s getting good – the app crashes. Now imagine that happening to almost 4,500 people PER DAY. In the month of May alone, 4,475 active subscribers are going through this.</a:t>
            </a:r>
          </a:p>
          <a:p>
            <a:endParaRPr lang="en-US" dirty="0"/>
          </a:p>
          <a:p>
            <a:r>
              <a:rPr lang="en-US" dirty="0"/>
              <a:t>In connection to this, the number of customer support tickets have been on a steady rise since January, with the highest peak being in May. This leads me to believe, that this is an issue that has been ill addressed for over five months. Constantly dealing with a crashing app and slow response times, have ultimately led to the platform hemorrhaging over 10,500 users over the past five months. Now, there are some things that we can address that the customers do like.</a:t>
            </a:r>
          </a:p>
        </p:txBody>
      </p:sp>
      <p:sp>
        <p:nvSpPr>
          <p:cNvPr id="4" name="Slide Number Placeholder 3"/>
          <p:cNvSpPr>
            <a:spLocks noGrp="1"/>
          </p:cNvSpPr>
          <p:nvPr>
            <p:ph type="sldNum" sz="quarter" idx="5"/>
          </p:nvPr>
        </p:nvSpPr>
        <p:spPr/>
        <p:txBody>
          <a:bodyPr/>
          <a:lstStyle/>
          <a:p>
            <a:fld id="{509B9498-FDEE-4498-AC3A-C83DFCC8A50A}" type="slidenum">
              <a:rPr lang="en-US" smtClean="0"/>
              <a:t>4</a:t>
            </a:fld>
            <a:endParaRPr lang="en-US" dirty="0"/>
          </a:p>
        </p:txBody>
      </p:sp>
    </p:spTree>
    <p:extLst>
      <p:ext uri="{BB962C8B-B14F-4D97-AF65-F5344CB8AC3E}">
        <p14:creationId xmlns:p14="http://schemas.microsoft.com/office/powerpoint/2010/main" val="1702421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my analysis, I’ve noticed that feature X has been steadily losing users by 10% since January with only 55% of subscribers using it in May while feature Y usage has slowly climbed up by 9% with 49% of subscribers using it in May. This leads me to believe that users prefer feature Y over feature X.</a:t>
            </a:r>
          </a:p>
        </p:txBody>
      </p:sp>
      <p:sp>
        <p:nvSpPr>
          <p:cNvPr id="4" name="Slide Number Placeholder 3"/>
          <p:cNvSpPr>
            <a:spLocks noGrp="1"/>
          </p:cNvSpPr>
          <p:nvPr>
            <p:ph type="sldNum" sz="quarter" idx="5"/>
          </p:nvPr>
        </p:nvSpPr>
        <p:spPr/>
        <p:txBody>
          <a:bodyPr/>
          <a:lstStyle/>
          <a:p>
            <a:fld id="{509B9498-FDEE-4498-AC3A-C83DFCC8A50A}" type="slidenum">
              <a:rPr lang="en-US" smtClean="0"/>
              <a:t>5</a:t>
            </a:fld>
            <a:endParaRPr lang="en-US" dirty="0"/>
          </a:p>
        </p:txBody>
      </p:sp>
    </p:spTree>
    <p:extLst>
      <p:ext uri="{BB962C8B-B14F-4D97-AF65-F5344CB8AC3E}">
        <p14:creationId xmlns:p14="http://schemas.microsoft.com/office/powerpoint/2010/main" val="961639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noticed another preference among new customers. New subscribers are redeeming promotion A less as time goes on (with only 300 new subscribers using it in May), while redemption of promotion B has skyrocketed from 800 subscribers in January to 1900 in May. With this knowledge, it’s safe to say that the promotional package that comes with B is more enticing to new users that promotion A.</a:t>
            </a:r>
          </a:p>
        </p:txBody>
      </p:sp>
      <p:sp>
        <p:nvSpPr>
          <p:cNvPr id="4" name="Slide Number Placeholder 3"/>
          <p:cNvSpPr>
            <a:spLocks noGrp="1"/>
          </p:cNvSpPr>
          <p:nvPr>
            <p:ph type="sldNum" sz="quarter" idx="5"/>
          </p:nvPr>
        </p:nvSpPr>
        <p:spPr/>
        <p:txBody>
          <a:bodyPr/>
          <a:lstStyle/>
          <a:p>
            <a:fld id="{509B9498-FDEE-4498-AC3A-C83DFCC8A50A}" type="slidenum">
              <a:rPr lang="en-US" smtClean="0"/>
              <a:t>6</a:t>
            </a:fld>
            <a:endParaRPr lang="en-US" dirty="0"/>
          </a:p>
        </p:txBody>
      </p:sp>
    </p:spTree>
    <p:extLst>
      <p:ext uri="{BB962C8B-B14F-4D97-AF65-F5344CB8AC3E}">
        <p14:creationId xmlns:p14="http://schemas.microsoft.com/office/powerpoint/2010/main" val="1928781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does all of this mean? Well, after conducting my analysis, it’s my belief that there are 2 main things you can do you prevent cancellations, entice active subscribers, and attract new subscribers:</a:t>
            </a:r>
          </a:p>
          <a:p>
            <a:pPr marL="228600" indent="-228600">
              <a:buAutoNum type="arabicPeriod"/>
            </a:pPr>
            <a:r>
              <a:rPr lang="en-US" dirty="0"/>
              <a:t>The first thing you can do is re-engage users and prevent further cancellations by reviewing customer support tickets and fixing the daily app crash rate. Maybe there is a specific thing being done to trigger the crashes, or it’s a server issue. Whatever it is, once you read the tickets it will tell you how to handle the issue, thus making current customers stay. I will also advise to you look into feature Y a little bit more. Feature X is still the more popular feature as of May, but it’s on a downward trend. Use this opportunity to look into feature Y, see why subscribers prefer it, and – if the upward trend usage continues – try to place more emphasis on it than feature X. This will also aid in re-engaging current users.</a:t>
            </a:r>
          </a:p>
          <a:p>
            <a:pPr marL="228600" indent="-228600">
              <a:buAutoNum type="arabicPeriod"/>
            </a:pPr>
            <a:r>
              <a:rPr lang="en-US" dirty="0"/>
              <a:t>The second thing you can do is  attract new users, by pushing promotion B over promotion A. New user data has shown that promotion B is preferred by a large margin. By leaning into this and further pushing promotion B to potential new subscribers, we can add to the existing customer base and, ideally, make up for previous cancellations.</a:t>
            </a:r>
          </a:p>
        </p:txBody>
      </p:sp>
      <p:sp>
        <p:nvSpPr>
          <p:cNvPr id="4" name="Slide Number Placeholder 3"/>
          <p:cNvSpPr>
            <a:spLocks noGrp="1"/>
          </p:cNvSpPr>
          <p:nvPr>
            <p:ph type="sldNum" sz="quarter" idx="5"/>
          </p:nvPr>
        </p:nvSpPr>
        <p:spPr/>
        <p:txBody>
          <a:bodyPr/>
          <a:lstStyle/>
          <a:p>
            <a:fld id="{509B9498-FDEE-4498-AC3A-C83DFCC8A50A}" type="slidenum">
              <a:rPr lang="en-US" smtClean="0"/>
              <a:t>7</a:t>
            </a:fld>
            <a:endParaRPr lang="en-US" dirty="0"/>
          </a:p>
        </p:txBody>
      </p:sp>
    </p:spTree>
    <p:extLst>
      <p:ext uri="{BB962C8B-B14F-4D97-AF65-F5344CB8AC3E}">
        <p14:creationId xmlns:p14="http://schemas.microsoft.com/office/powerpoint/2010/main" val="4293707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to my analysis and recommendations, I hope that they are helpful to your future endeavors.</a:t>
            </a:r>
          </a:p>
        </p:txBody>
      </p:sp>
      <p:sp>
        <p:nvSpPr>
          <p:cNvPr id="4" name="Slide Number Placeholder 3"/>
          <p:cNvSpPr>
            <a:spLocks noGrp="1"/>
          </p:cNvSpPr>
          <p:nvPr>
            <p:ph type="sldNum" sz="quarter" idx="5"/>
          </p:nvPr>
        </p:nvSpPr>
        <p:spPr/>
        <p:txBody>
          <a:bodyPr/>
          <a:lstStyle/>
          <a:p>
            <a:fld id="{509B9498-FDEE-4498-AC3A-C83DFCC8A50A}" type="slidenum">
              <a:rPr lang="en-US" smtClean="0"/>
              <a:t>8</a:t>
            </a:fld>
            <a:endParaRPr lang="en-US" dirty="0"/>
          </a:p>
        </p:txBody>
      </p:sp>
    </p:spTree>
    <p:extLst>
      <p:ext uri="{BB962C8B-B14F-4D97-AF65-F5344CB8AC3E}">
        <p14:creationId xmlns:p14="http://schemas.microsoft.com/office/powerpoint/2010/main" val="2401970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5/1/2026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5/1/2026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5/1/2026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5/1/2026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5/1/2026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5/1/2026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5/1/2026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5/1/2026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5/1/2026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5/1/2026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5/1/2026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5/1/2026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5/1/2026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5/1/2026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5/1/2026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5/1/2026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5/1/2026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5/1/2026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5/1/2026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5/1/2026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5/1/2026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0B8D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A38E9-D21E-DE68-38AC-F56AEA15B379}"/>
              </a:ext>
            </a:extLst>
          </p:cNvPr>
          <p:cNvSpPr>
            <a:spLocks noGrp="1"/>
          </p:cNvSpPr>
          <p:nvPr>
            <p:ph type="ctrTitle"/>
          </p:nvPr>
        </p:nvSpPr>
        <p:spPr>
          <a:xfrm>
            <a:off x="431172" y="3158836"/>
            <a:ext cx="6884028" cy="2887717"/>
          </a:xfrm>
        </p:spPr>
        <p:txBody>
          <a:bodyPr anchor="b">
            <a:normAutofit fontScale="90000"/>
          </a:bodyPr>
          <a:lstStyle/>
          <a:p>
            <a:r>
              <a:rPr lang="en-US" dirty="0"/>
              <a:t>Customer Cancellation Analysis</a:t>
            </a:r>
          </a:p>
        </p:txBody>
      </p:sp>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431172" y="415057"/>
            <a:ext cx="7685139" cy="1414091"/>
          </a:xfrm>
        </p:spPr>
        <p:txBody>
          <a:bodyPr anchor="t">
            <a:normAutofit/>
          </a:bodyPr>
          <a:lstStyle/>
          <a:p>
            <a:r>
              <a:rPr lang="en-US" dirty="0"/>
              <a:t>Presented by Miyah Jordan</a:t>
            </a:r>
          </a:p>
        </p:txBody>
      </p:sp>
      <p:sp>
        <p:nvSpPr>
          <p:cNvPr id="11" name="Date Placeholder 10">
            <a:extLst>
              <a:ext uri="{FF2B5EF4-FFF2-40B4-BE49-F238E27FC236}">
                <a16:creationId xmlns:a16="http://schemas.microsoft.com/office/drawing/2014/main" id="{3B60C5C2-A596-7FEB-7260-D4D75F7F7904}"/>
              </a:ext>
            </a:extLst>
          </p:cNvPr>
          <p:cNvSpPr>
            <a:spLocks noGrp="1"/>
          </p:cNvSpPr>
          <p:nvPr>
            <p:ph type="dt" sz="half" idx="10"/>
          </p:nvPr>
        </p:nvSpPr>
        <p:spPr>
          <a:xfrm>
            <a:off x="431172" y="6490524"/>
            <a:ext cx="2841959" cy="336141"/>
          </a:xfrm>
        </p:spPr>
        <p:txBody>
          <a:bodyPr/>
          <a:lstStyle/>
          <a:p>
            <a:pPr lvl="0"/>
            <a:fld id="{A2C196D7-201A-4A3A-B9FA-EDBCED2083FF}" type="datetime1">
              <a:rPr lang="en-US" noProof="0" smtClean="0"/>
              <a:t>5/1/2026</a:t>
            </a:fld>
            <a:endParaRPr lang="en-US" noProof="0" dirty="0"/>
          </a:p>
        </p:txBody>
      </p:sp>
      <p:sp>
        <p:nvSpPr>
          <p:cNvPr id="13" name="Slide Number Placeholder 12">
            <a:extLst>
              <a:ext uri="{FF2B5EF4-FFF2-40B4-BE49-F238E27FC236}">
                <a16:creationId xmlns:a16="http://schemas.microsoft.com/office/drawing/2014/main" id="{6247F861-42CF-FE05-F8FD-7EBB0D76F029}"/>
              </a:ext>
            </a:extLst>
          </p:cNvPr>
          <p:cNvSpPr>
            <a:spLocks noGrp="1"/>
          </p:cNvSpPr>
          <p:nvPr>
            <p:ph type="sldNum" sz="quarter" idx="12"/>
          </p:nvPr>
        </p:nvSpPr>
        <p:spPr>
          <a:xfrm>
            <a:off x="11648431" y="6490524"/>
            <a:ext cx="457200" cy="336141"/>
          </a:xfrm>
        </p:spPr>
        <p:txBody>
          <a:bodyPr/>
          <a:lstStyle/>
          <a:p>
            <a:pPr lvl="0"/>
            <a:fld id="{84C450F2-3BB4-4AE4-8A35-A9D7AEA4C850}" type="slidenum">
              <a:rPr lang="en-US" noProof="0" smtClean="0"/>
              <a:pPr lvl="0"/>
              <a:t>1</a:t>
            </a:fld>
            <a:endParaRPr lang="en-US" noProof="0" dirty="0"/>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80639A-ABD5-D519-7BBD-8AED44FC3234}"/>
              </a:ext>
            </a:extLst>
          </p:cNvPr>
          <p:cNvSpPr>
            <a:spLocks noGrp="1"/>
          </p:cNvSpPr>
          <p:nvPr>
            <p:ph type="title"/>
          </p:nvPr>
        </p:nvSpPr>
        <p:spPr/>
        <p:txBody>
          <a:bodyPr>
            <a:normAutofit/>
          </a:bodyPr>
          <a:lstStyle/>
          <a:p>
            <a:r>
              <a:rPr lang="en-US" sz="3600" cap="none" dirty="0">
                <a:solidFill>
                  <a:schemeClr val="bg1">
                    <a:lumMod val="50000"/>
                  </a:schemeClr>
                </a:solidFill>
                <a:latin typeface="Arial" panose="020B0604020202020204" pitchFamily="34" charset="0"/>
                <a:cs typeface="Arial" panose="020B0604020202020204" pitchFamily="34" charset="0"/>
              </a:rPr>
              <a:t>In this presentation…</a:t>
            </a:r>
          </a:p>
        </p:txBody>
      </p:sp>
      <p:sp>
        <p:nvSpPr>
          <p:cNvPr id="10" name="Content Placeholder 9">
            <a:extLst>
              <a:ext uri="{FF2B5EF4-FFF2-40B4-BE49-F238E27FC236}">
                <a16:creationId xmlns:a16="http://schemas.microsoft.com/office/drawing/2014/main" id="{BF826B16-CE17-E52B-F90D-EF1CEF2191CB}"/>
              </a:ext>
            </a:extLst>
          </p:cNvPr>
          <p:cNvSpPr>
            <a:spLocks noGrp="1"/>
          </p:cNvSpPr>
          <p:nvPr>
            <p:ph idx="1"/>
          </p:nvPr>
        </p:nvSpPr>
        <p:spPr>
          <a:xfrm>
            <a:off x="429753" y="1668826"/>
            <a:ext cx="11125032" cy="3924572"/>
          </a:xfrm>
        </p:spPr>
        <p:txBody>
          <a:bodyPr>
            <a:normAutofit lnSpcReduction="10000"/>
          </a:bodyPr>
          <a:lstStyle/>
          <a:p>
            <a:pPr marL="0" indent="0">
              <a:buNone/>
            </a:pPr>
            <a:r>
              <a:rPr lang="en-US" sz="3200" b="1" dirty="0">
                <a:solidFill>
                  <a:srgbClr val="0070C0"/>
                </a:solidFill>
              </a:rPr>
              <a:t>THE GOAL:</a:t>
            </a:r>
          </a:p>
          <a:p>
            <a:pPr marL="1200150" lvl="2" indent="-742950">
              <a:buFont typeface="+mj-lt"/>
              <a:buAutoNum type="arabicPeriod"/>
            </a:pPr>
            <a:r>
              <a:rPr lang="en-US" sz="2800" dirty="0">
                <a:solidFill>
                  <a:schemeClr val="bg1">
                    <a:lumMod val="50000"/>
                  </a:schemeClr>
                </a:solidFill>
                <a:latin typeface="Arial" panose="020B0604020202020204" pitchFamily="34" charset="0"/>
                <a:cs typeface="Arial" panose="020B0604020202020204" pitchFamily="34" charset="0"/>
              </a:rPr>
              <a:t>Understand </a:t>
            </a:r>
            <a:r>
              <a:rPr lang="en-US" sz="2800" b="1" dirty="0">
                <a:solidFill>
                  <a:srgbClr val="0070C0"/>
                </a:solidFill>
                <a:latin typeface="Arial" panose="020B0604020202020204" pitchFamily="34" charset="0"/>
                <a:cs typeface="Arial" panose="020B0604020202020204" pitchFamily="34" charset="0"/>
              </a:rPr>
              <a:t>why customers are cancelling their subscriptions.</a:t>
            </a:r>
          </a:p>
          <a:p>
            <a:pPr marL="1200150" lvl="2" indent="-742950">
              <a:buFont typeface="+mj-lt"/>
              <a:buAutoNum type="arabicPeriod"/>
            </a:pPr>
            <a:r>
              <a:rPr lang="en-US" sz="2800" dirty="0">
                <a:solidFill>
                  <a:schemeClr val="bg1">
                    <a:lumMod val="50000"/>
                  </a:schemeClr>
                </a:solidFill>
                <a:latin typeface="Arial" panose="020B0604020202020204" pitchFamily="34" charset="0"/>
                <a:cs typeface="Arial" panose="020B0604020202020204" pitchFamily="34" charset="0"/>
              </a:rPr>
              <a:t>Use this knowledge to </a:t>
            </a:r>
            <a:r>
              <a:rPr lang="en-US" sz="2800" b="1" dirty="0">
                <a:solidFill>
                  <a:srgbClr val="0070C0"/>
                </a:solidFill>
                <a:latin typeface="Arial" panose="020B0604020202020204" pitchFamily="34" charset="0"/>
                <a:cs typeface="Arial" panose="020B0604020202020204" pitchFamily="34" charset="0"/>
              </a:rPr>
              <a:t>reduce cancellations and re-engage users</a:t>
            </a:r>
            <a:r>
              <a:rPr lang="en-US" sz="2800" dirty="0">
                <a:solidFill>
                  <a:schemeClr val="bg1">
                    <a:lumMod val="50000"/>
                  </a:schemeClr>
                </a:solidFill>
                <a:latin typeface="Arial" panose="020B0604020202020204" pitchFamily="34" charset="0"/>
                <a:cs typeface="Arial" panose="020B0604020202020204" pitchFamily="34" charset="0"/>
              </a:rPr>
              <a:t>.</a:t>
            </a:r>
          </a:p>
          <a:p>
            <a:pPr marL="0" indent="0">
              <a:buNone/>
            </a:pPr>
            <a:endParaRPr lang="en-US" sz="2800" dirty="0">
              <a:solidFill>
                <a:schemeClr val="bg1">
                  <a:lumMod val="50000"/>
                </a:schemeClr>
              </a:solidFill>
              <a:latin typeface="Arial" panose="020B0604020202020204" pitchFamily="34" charset="0"/>
              <a:cs typeface="Arial" panose="020B0604020202020204" pitchFamily="34" charset="0"/>
            </a:endParaRPr>
          </a:p>
          <a:p>
            <a:pPr marL="0" indent="0">
              <a:buNone/>
            </a:pPr>
            <a:r>
              <a:rPr lang="en-US" sz="2800" dirty="0">
                <a:solidFill>
                  <a:schemeClr val="bg1">
                    <a:lumMod val="50000"/>
                  </a:schemeClr>
                </a:solidFill>
                <a:latin typeface="Arial" panose="020B0604020202020204" pitchFamily="34" charset="0"/>
                <a:cs typeface="Arial" panose="020B0604020202020204" pitchFamily="34" charset="0"/>
              </a:rPr>
              <a:t>We will end with a </a:t>
            </a:r>
            <a:r>
              <a:rPr lang="en-US" sz="2800" b="1" dirty="0">
                <a:solidFill>
                  <a:srgbClr val="0070C0"/>
                </a:solidFill>
                <a:latin typeface="Arial" panose="020B0604020202020204" pitchFamily="34" charset="0"/>
                <a:cs typeface="Arial" panose="020B0604020202020204" pitchFamily="34" charset="0"/>
              </a:rPr>
              <a:t>specific recommendation</a:t>
            </a:r>
            <a:r>
              <a:rPr lang="en-US" sz="2800" dirty="0">
                <a:solidFill>
                  <a:schemeClr val="bg1">
                    <a:lumMod val="50000"/>
                  </a:schemeClr>
                </a:solidFill>
                <a:latin typeface="Arial" panose="020B0604020202020204" pitchFamily="34" charset="0"/>
                <a:cs typeface="Arial" panose="020B0604020202020204" pitchFamily="34" charset="0"/>
              </a:rPr>
              <a:t>.</a:t>
            </a:r>
          </a:p>
        </p:txBody>
      </p:sp>
      <p:sp>
        <p:nvSpPr>
          <p:cNvPr id="6" name="Slide Number Placeholder 5">
            <a:extLst>
              <a:ext uri="{FF2B5EF4-FFF2-40B4-BE49-F238E27FC236}">
                <a16:creationId xmlns:a16="http://schemas.microsoft.com/office/drawing/2014/main" id="{4C658E02-427E-AAB6-AB98-05C936C383F5}"/>
              </a:ext>
              <a:ext uri="{C183D7F6-B498-43B3-948B-1728B52AA6E4}">
                <adec:decorative xmlns:adec="http://schemas.microsoft.com/office/drawing/2017/decorative" val="0"/>
              </a:ext>
            </a:extLst>
          </p:cNvPr>
          <p:cNvSpPr>
            <a:spLocks noGrp="1"/>
          </p:cNvSpPr>
          <p:nvPr>
            <p:ph type="sldNum" sz="quarter" idx="12"/>
          </p:nvPr>
        </p:nvSpPr>
        <p:spPr/>
        <p:txBody>
          <a:bodyPr/>
          <a:lstStyle/>
          <a:p>
            <a:fld id="{84C450F2-3BB4-4AE4-8A35-A9D7AEA4C850}" type="slidenum">
              <a:rPr lang="en-US" smtClean="0"/>
              <a:t>2</a:t>
            </a:fld>
            <a:endParaRPr lang="en-US" dirty="0"/>
          </a:p>
        </p:txBody>
      </p:sp>
      <p:sp>
        <p:nvSpPr>
          <p:cNvPr id="11" name="Title 1">
            <a:extLst>
              <a:ext uri="{FF2B5EF4-FFF2-40B4-BE49-F238E27FC236}">
                <a16:creationId xmlns:a16="http://schemas.microsoft.com/office/drawing/2014/main" id="{42048092-18C0-0582-A2AE-C5DEEBB5C85C}"/>
              </a:ext>
            </a:extLst>
          </p:cNvPr>
          <p:cNvSpPr txBox="1">
            <a:spLocks/>
          </p:cNvSpPr>
          <p:nvPr/>
        </p:nvSpPr>
        <p:spPr>
          <a:xfrm>
            <a:off x="429753" y="725868"/>
            <a:ext cx="11125032" cy="51039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r>
              <a:rPr lang="en-US" sz="2400" b="1" cap="none" dirty="0">
                <a:solidFill>
                  <a:srgbClr val="0070C0"/>
                </a:solidFill>
                <a:latin typeface="Arial" panose="020B0604020202020204" pitchFamily="34" charset="0"/>
                <a:cs typeface="Arial" panose="020B0604020202020204" pitchFamily="34" charset="0"/>
              </a:rPr>
              <a:t>10,500</a:t>
            </a:r>
            <a:r>
              <a:rPr lang="en-US" sz="2400" cap="none" dirty="0">
                <a:solidFill>
                  <a:srgbClr val="0070C0"/>
                </a:solidFill>
                <a:latin typeface="Arial" panose="020B0604020202020204" pitchFamily="34" charset="0"/>
                <a:cs typeface="Arial" panose="020B0604020202020204" pitchFamily="34" charset="0"/>
              </a:rPr>
              <a:t> users have cancelled their subscriptions over 5 months</a:t>
            </a:r>
            <a:endParaRPr lang="en-US" sz="2400" dirty="0"/>
          </a:p>
        </p:txBody>
      </p:sp>
      <p:graphicFrame>
        <p:nvGraphicFramePr>
          <p:cNvPr id="13" name="Content Placeholder 8" descr="A line graph titled &quot;active subscribers by month&quot; that is going in a descending trend. The y-axis represents the number of subscrfibers and the x-axis represents the months January - May. Two data points: 100,000 and 89,500 are labeled and bolded to emphasize the drop in subscribers.">
            <a:extLst>
              <a:ext uri="{FF2B5EF4-FFF2-40B4-BE49-F238E27FC236}">
                <a16:creationId xmlns:a16="http://schemas.microsoft.com/office/drawing/2014/main" id="{BEC4E402-959B-71F0-3781-08818014A3E5}"/>
              </a:ext>
            </a:extLst>
          </p:cNvPr>
          <p:cNvGraphicFramePr>
            <a:graphicFrameLocks/>
          </p:cNvGraphicFramePr>
          <p:nvPr>
            <p:extLst>
              <p:ext uri="{D42A27DB-BD31-4B8C-83A1-F6EECF244321}">
                <p14:modId xmlns:p14="http://schemas.microsoft.com/office/powerpoint/2010/main" val="462899202"/>
              </p:ext>
            </p:extLst>
          </p:nvPr>
        </p:nvGraphicFramePr>
        <p:xfrm>
          <a:off x="428334" y="1101087"/>
          <a:ext cx="11123613" cy="490537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4BE36C64-CCC8-899D-074A-00113835E082}"/>
              </a:ext>
            </a:extLst>
          </p:cNvPr>
          <p:cNvSpPr txBox="1"/>
          <p:nvPr/>
        </p:nvSpPr>
        <p:spPr>
          <a:xfrm>
            <a:off x="431172" y="6003821"/>
            <a:ext cx="10382864" cy="276999"/>
          </a:xfrm>
          <a:prstGeom prst="rect">
            <a:avLst/>
          </a:prstGeom>
          <a:noFill/>
        </p:spPr>
        <p:txBody>
          <a:bodyPr wrap="square" rtlCol="0">
            <a:spAutoFit/>
          </a:bodyPr>
          <a:lstStyle/>
          <a:p>
            <a:r>
              <a:rPr lang="en-US" sz="1200" dirty="0">
                <a:solidFill>
                  <a:schemeClr val="bg1">
                    <a:lumMod val="65000"/>
                  </a:schemeClr>
                </a:solidFill>
                <a:latin typeface="Arial" panose="020B0604020202020204" pitchFamily="34" charset="0"/>
                <a:cs typeface="Arial" panose="020B0604020202020204" pitchFamily="34" charset="0"/>
              </a:rPr>
              <a:t>Data source: Dataset Streaming Service.</a:t>
            </a:r>
          </a:p>
        </p:txBody>
      </p:sp>
    </p:spTree>
    <p:extLst>
      <p:ext uri="{BB962C8B-B14F-4D97-AF65-F5344CB8AC3E}">
        <p14:creationId xmlns:p14="http://schemas.microsoft.com/office/powerpoint/2010/main" val="407762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uiExpand="1" build="allAtOnce"/>
      <p:bldP spid="11" grpId="0"/>
      <p:bldGraphic spid="13" grpId="0">
        <p:bldAsOne/>
      </p:bldGraphic>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90F69-DCE5-5084-A347-FCA833BB5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DE6A2-C3A2-E7AC-B2FE-00374DC901FC}"/>
              </a:ext>
            </a:extLst>
          </p:cNvPr>
          <p:cNvSpPr>
            <a:spLocks noGrp="1"/>
          </p:cNvSpPr>
          <p:nvPr>
            <p:ph type="title"/>
          </p:nvPr>
        </p:nvSpPr>
        <p:spPr>
          <a:xfrm>
            <a:off x="431172" y="373626"/>
            <a:ext cx="11125032" cy="461990"/>
          </a:xfrm>
        </p:spPr>
        <p:txBody>
          <a:bodyPr>
            <a:normAutofit/>
          </a:bodyPr>
          <a:lstStyle/>
          <a:p>
            <a:r>
              <a:rPr lang="en-US" sz="2400" cap="none" dirty="0">
                <a:solidFill>
                  <a:srgbClr val="0070C0"/>
                </a:solidFill>
                <a:latin typeface="Arial" panose="020B0604020202020204" pitchFamily="34" charset="0"/>
                <a:cs typeface="Arial" panose="020B0604020202020204" pitchFamily="34" charset="0"/>
              </a:rPr>
              <a:t>The rate of new signs ups per month are now </a:t>
            </a:r>
            <a:r>
              <a:rPr lang="en-US" sz="2400" b="1" cap="none" dirty="0">
                <a:solidFill>
                  <a:srgbClr val="0070C0"/>
                </a:solidFill>
                <a:latin typeface="Arial" panose="020B0604020202020204" pitchFamily="34" charset="0"/>
                <a:cs typeface="Arial" panose="020B0604020202020204" pitchFamily="34" charset="0"/>
              </a:rPr>
              <a:t>equal to </a:t>
            </a:r>
            <a:r>
              <a:rPr lang="en-US" sz="2400" cap="none" dirty="0">
                <a:solidFill>
                  <a:srgbClr val="0070C0"/>
                </a:solidFill>
                <a:latin typeface="Arial" panose="020B0604020202020204" pitchFamily="34" charset="0"/>
                <a:cs typeface="Arial" panose="020B0604020202020204" pitchFamily="34" charset="0"/>
              </a:rPr>
              <a:t>cancellations per month</a:t>
            </a:r>
          </a:p>
        </p:txBody>
      </p:sp>
      <p:graphicFrame>
        <p:nvGraphicFramePr>
          <p:cNvPr id="9" name="Content Placeholder 8" descr="A graph with a blue line (declining) and an orange line (ascending) meeting at the end. The Blue line represents new sign-ups and the orange line represents cancellations.">
            <a:extLst>
              <a:ext uri="{FF2B5EF4-FFF2-40B4-BE49-F238E27FC236}">
                <a16:creationId xmlns:a16="http://schemas.microsoft.com/office/drawing/2014/main" id="{65555F21-3651-6817-529B-8E5288C18B69}"/>
              </a:ext>
            </a:extLst>
          </p:cNvPr>
          <p:cNvGraphicFramePr>
            <a:graphicFrameLocks noGrp="1"/>
          </p:cNvGraphicFramePr>
          <p:nvPr>
            <p:ph idx="1"/>
            <p:extLst>
              <p:ext uri="{D42A27DB-BD31-4B8C-83A1-F6EECF244321}">
                <p14:modId xmlns:p14="http://schemas.microsoft.com/office/powerpoint/2010/main" val="718654796"/>
              </p:ext>
            </p:extLst>
          </p:nvPr>
        </p:nvGraphicFramePr>
        <p:xfrm>
          <a:off x="431881" y="727464"/>
          <a:ext cx="9469203" cy="490537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46343E6D-790B-F468-2084-15925BB1A782}"/>
              </a:ext>
            </a:extLst>
          </p:cNvPr>
          <p:cNvSpPr txBox="1"/>
          <p:nvPr/>
        </p:nvSpPr>
        <p:spPr>
          <a:xfrm>
            <a:off x="2104103" y="1304305"/>
            <a:ext cx="1523999" cy="307777"/>
          </a:xfrm>
          <a:prstGeom prst="rect">
            <a:avLst/>
          </a:prstGeom>
          <a:no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New Sign-Ups</a:t>
            </a:r>
          </a:p>
        </p:txBody>
      </p:sp>
      <p:sp>
        <p:nvSpPr>
          <p:cNvPr id="7" name="TextBox 6">
            <a:extLst>
              <a:ext uri="{FF2B5EF4-FFF2-40B4-BE49-F238E27FC236}">
                <a16:creationId xmlns:a16="http://schemas.microsoft.com/office/drawing/2014/main" id="{9A20C12D-0E3E-5B76-0BFF-6B220200E534}"/>
              </a:ext>
            </a:extLst>
          </p:cNvPr>
          <p:cNvSpPr txBox="1"/>
          <p:nvPr/>
        </p:nvSpPr>
        <p:spPr>
          <a:xfrm>
            <a:off x="2104103" y="3080339"/>
            <a:ext cx="1523999" cy="307777"/>
          </a:xfrm>
          <a:prstGeom prst="rect">
            <a:avLst/>
          </a:prstGeom>
          <a:noFill/>
        </p:spPr>
        <p:txBody>
          <a:bodyPr wrap="square" rtlCol="0">
            <a:spAutoFit/>
          </a:bodyPr>
          <a:lstStyle/>
          <a:p>
            <a:r>
              <a:rPr lang="en-US" sz="1400" b="1" dirty="0">
                <a:solidFill>
                  <a:srgbClr val="DD912B"/>
                </a:solidFill>
                <a:latin typeface="Arial" panose="020B0604020202020204" pitchFamily="34" charset="0"/>
                <a:cs typeface="Arial" panose="020B0604020202020204" pitchFamily="34" charset="0"/>
              </a:rPr>
              <a:t>Cancellations</a:t>
            </a:r>
          </a:p>
        </p:txBody>
      </p:sp>
      <p:sp>
        <p:nvSpPr>
          <p:cNvPr id="8" name="TextBox 7">
            <a:extLst>
              <a:ext uri="{FF2B5EF4-FFF2-40B4-BE49-F238E27FC236}">
                <a16:creationId xmlns:a16="http://schemas.microsoft.com/office/drawing/2014/main" id="{8D755D0F-C34C-4E0C-89CE-7385AC4ADA08}"/>
              </a:ext>
            </a:extLst>
          </p:cNvPr>
          <p:cNvSpPr txBox="1"/>
          <p:nvPr/>
        </p:nvSpPr>
        <p:spPr>
          <a:xfrm>
            <a:off x="9097285" y="1929587"/>
            <a:ext cx="266283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As of May, the number of new sign-ups and cancelled subscriptions are both </a:t>
            </a:r>
            <a:r>
              <a:rPr lang="en-US" sz="1400" b="1" dirty="0">
                <a:solidFill>
                  <a:srgbClr val="0070C0"/>
                </a:solidFill>
                <a:latin typeface="Arial" panose="020B0604020202020204" pitchFamily="34" charset="0"/>
                <a:cs typeface="Arial" panose="020B0604020202020204" pitchFamily="34" charset="0"/>
              </a:rPr>
              <a:t>6,500</a:t>
            </a:r>
          </a:p>
        </p:txBody>
      </p:sp>
      <p:sp>
        <p:nvSpPr>
          <p:cNvPr id="4" name="TextBox 3">
            <a:extLst>
              <a:ext uri="{FF2B5EF4-FFF2-40B4-BE49-F238E27FC236}">
                <a16:creationId xmlns:a16="http://schemas.microsoft.com/office/drawing/2014/main" id="{D41E83B9-D4E0-B46E-E58F-2CFE37BE14E4}"/>
              </a:ext>
            </a:extLst>
          </p:cNvPr>
          <p:cNvSpPr txBox="1"/>
          <p:nvPr/>
        </p:nvSpPr>
        <p:spPr>
          <a:xfrm>
            <a:off x="431172" y="5632839"/>
            <a:ext cx="10382864" cy="276999"/>
          </a:xfrm>
          <a:prstGeom prst="rect">
            <a:avLst/>
          </a:prstGeom>
          <a:noFill/>
        </p:spPr>
        <p:txBody>
          <a:bodyPr wrap="square" rtlCol="0">
            <a:spAutoFit/>
          </a:bodyPr>
          <a:lstStyle/>
          <a:p>
            <a:r>
              <a:rPr lang="en-US" sz="1200" dirty="0">
                <a:solidFill>
                  <a:schemeClr val="bg1">
                    <a:lumMod val="65000"/>
                  </a:schemeClr>
                </a:solidFill>
                <a:latin typeface="Arial" panose="020B0604020202020204" pitchFamily="34" charset="0"/>
                <a:cs typeface="Arial" panose="020B0604020202020204" pitchFamily="34" charset="0"/>
              </a:rPr>
              <a:t>Data source: Dataset Streaming Service. For analysis, “new sign-ups” are defined as new users who signed up that month. </a:t>
            </a:r>
          </a:p>
        </p:txBody>
      </p:sp>
      <p:sp>
        <p:nvSpPr>
          <p:cNvPr id="6" name="Slide Number Placeholder 5">
            <a:extLst>
              <a:ext uri="{FF2B5EF4-FFF2-40B4-BE49-F238E27FC236}">
                <a16:creationId xmlns:a16="http://schemas.microsoft.com/office/drawing/2014/main" id="{95045596-663F-D985-5BB5-F53C0E812FA9}"/>
              </a:ext>
            </a:extLst>
          </p:cNvPr>
          <p:cNvSpPr>
            <a:spLocks noGrp="1"/>
          </p:cNvSpPr>
          <p:nvPr>
            <p:ph type="sldNum" sz="quarter" idx="12"/>
          </p:nvPr>
        </p:nvSpPr>
        <p:spPr/>
        <p:txBody>
          <a:bodyPr/>
          <a:lstStyle/>
          <a:p>
            <a:fld id="{84C450F2-3BB4-4AE4-8A35-A9D7AEA4C850}" type="slidenum">
              <a:rPr lang="en-US" smtClean="0"/>
              <a:t>3</a:t>
            </a:fld>
            <a:endParaRPr lang="en-US" dirty="0"/>
          </a:p>
        </p:txBody>
      </p:sp>
    </p:spTree>
    <p:extLst>
      <p:ext uri="{BB962C8B-B14F-4D97-AF65-F5344CB8AC3E}">
        <p14:creationId xmlns:p14="http://schemas.microsoft.com/office/powerpoint/2010/main" val="1464781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FC98-0E76-0876-E9B1-0D72CD6EB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5D31A-5A6D-D604-DD99-E6C7FB50AC59}"/>
              </a:ext>
            </a:extLst>
          </p:cNvPr>
          <p:cNvSpPr>
            <a:spLocks noGrp="1"/>
          </p:cNvSpPr>
          <p:nvPr>
            <p:ph type="title"/>
          </p:nvPr>
        </p:nvSpPr>
        <p:spPr>
          <a:xfrm>
            <a:off x="470500" y="373626"/>
            <a:ext cx="11125032" cy="461990"/>
          </a:xfrm>
        </p:spPr>
        <p:txBody>
          <a:bodyPr>
            <a:normAutofit/>
          </a:bodyPr>
          <a:lstStyle/>
          <a:p>
            <a:r>
              <a:rPr lang="en-US" sz="2400" cap="none" dirty="0">
                <a:solidFill>
                  <a:srgbClr val="0070C0"/>
                </a:solidFill>
                <a:latin typeface="Arial" panose="020B0604020202020204" pitchFamily="34" charset="0"/>
                <a:cs typeface="Arial" panose="020B0604020202020204" pitchFamily="34" charset="0"/>
              </a:rPr>
              <a:t>Poor app performance </a:t>
            </a:r>
            <a:r>
              <a:rPr lang="en-US" sz="2400" b="1" cap="none" dirty="0">
                <a:solidFill>
                  <a:srgbClr val="0070C0"/>
                </a:solidFill>
                <a:latin typeface="Arial" panose="020B0604020202020204" pitchFamily="34" charset="0"/>
                <a:cs typeface="Arial" panose="020B0604020202020204" pitchFamily="34" charset="0"/>
              </a:rPr>
              <a:t>negatively impacts</a:t>
            </a:r>
            <a:r>
              <a:rPr lang="en-US" sz="2400" cap="none" dirty="0">
                <a:solidFill>
                  <a:srgbClr val="0070C0"/>
                </a:solidFill>
                <a:latin typeface="Arial" panose="020B0604020202020204" pitchFamily="34" charset="0"/>
                <a:cs typeface="Arial" panose="020B0604020202020204" pitchFamily="34" charset="0"/>
              </a:rPr>
              <a:t> customer experience</a:t>
            </a:r>
          </a:p>
        </p:txBody>
      </p:sp>
      <p:sp>
        <p:nvSpPr>
          <p:cNvPr id="7" name="Content Placeholder 6">
            <a:extLst>
              <a:ext uri="{FF2B5EF4-FFF2-40B4-BE49-F238E27FC236}">
                <a16:creationId xmlns:a16="http://schemas.microsoft.com/office/drawing/2014/main" id="{00188D4D-4C38-3132-199D-8960E4BC8E8C}"/>
              </a:ext>
            </a:extLst>
          </p:cNvPr>
          <p:cNvSpPr>
            <a:spLocks noGrp="1"/>
          </p:cNvSpPr>
          <p:nvPr>
            <p:ph idx="1"/>
          </p:nvPr>
        </p:nvSpPr>
        <p:spPr>
          <a:xfrm>
            <a:off x="473227" y="1104261"/>
            <a:ext cx="6389690" cy="4313314"/>
          </a:xfrm>
        </p:spPr>
        <p:txBody>
          <a:bodyPr>
            <a:normAutofit/>
          </a:bodyPr>
          <a:lstStyle/>
          <a:p>
            <a:pPr marL="0" indent="0">
              <a:buNone/>
            </a:pPr>
            <a:r>
              <a:rPr lang="en-US" sz="2800" dirty="0">
                <a:latin typeface="Arial" panose="020B0604020202020204" pitchFamily="34" charset="0"/>
                <a:cs typeface="Arial" panose="020B0604020202020204" pitchFamily="34" charset="0"/>
              </a:rPr>
              <a:t>As of May, the daily app crash rate is</a:t>
            </a:r>
          </a:p>
          <a:p>
            <a:pPr marL="0" indent="0">
              <a:buNone/>
            </a:pPr>
            <a:r>
              <a:rPr lang="en-US" sz="8000" b="1" dirty="0">
                <a:solidFill>
                  <a:srgbClr val="0070C0"/>
                </a:solidFill>
                <a:latin typeface="Arial" panose="020B0604020202020204" pitchFamily="34" charset="0"/>
                <a:cs typeface="Arial" panose="020B0604020202020204" pitchFamily="34" charset="0"/>
              </a:rPr>
              <a:t>5%</a:t>
            </a:r>
          </a:p>
          <a:p>
            <a:pPr marL="0" indent="0">
              <a:buNone/>
            </a:pPr>
            <a:r>
              <a:rPr lang="en-US" sz="2800" dirty="0">
                <a:latin typeface="Arial" panose="020B0604020202020204" pitchFamily="34" charset="0"/>
                <a:cs typeface="Arial" panose="020B0604020202020204" pitchFamily="34" charset="0"/>
              </a:rPr>
              <a:t>which is a </a:t>
            </a:r>
            <a:r>
              <a:rPr lang="en-US" sz="2800" b="1" dirty="0">
                <a:solidFill>
                  <a:srgbClr val="0070C0"/>
                </a:solidFill>
                <a:latin typeface="Arial" panose="020B0604020202020204" pitchFamily="34" charset="0"/>
                <a:cs typeface="Arial" panose="020B0604020202020204" pitchFamily="34" charset="0"/>
              </a:rPr>
              <a:t>3% increase</a:t>
            </a:r>
            <a:r>
              <a:rPr lang="en-US" sz="2800" dirty="0">
                <a:latin typeface="Arial" panose="020B0604020202020204" pitchFamily="34" charset="0"/>
                <a:cs typeface="Arial" panose="020B0604020202020204" pitchFamily="34" charset="0"/>
              </a:rPr>
              <a:t> since January.</a:t>
            </a:r>
          </a:p>
          <a:p>
            <a:pPr marL="0" indent="0">
              <a:buNone/>
            </a:pPr>
            <a:r>
              <a:rPr lang="en-US" sz="2800" dirty="0">
                <a:latin typeface="Arial" panose="020B0604020202020204" pitchFamily="34" charset="0"/>
                <a:cs typeface="Arial" panose="020B0604020202020204" pitchFamily="34" charset="0"/>
              </a:rPr>
              <a:t>Approximately </a:t>
            </a:r>
            <a:r>
              <a:rPr lang="en-US" sz="2800" b="1" dirty="0">
                <a:solidFill>
                  <a:srgbClr val="0070C0"/>
                </a:solidFill>
                <a:latin typeface="Arial" panose="020B0604020202020204" pitchFamily="34" charset="0"/>
                <a:cs typeface="Arial" panose="020B0604020202020204" pitchFamily="34" charset="0"/>
              </a:rPr>
              <a:t>4,475</a:t>
            </a:r>
            <a:r>
              <a:rPr lang="en-US" sz="2800" dirty="0">
                <a:latin typeface="Arial" panose="020B0604020202020204" pitchFamily="34" charset="0"/>
                <a:cs typeface="Arial" panose="020B0604020202020204" pitchFamily="34" charset="0"/>
              </a:rPr>
              <a:t> active users are affected each day.</a:t>
            </a:r>
          </a:p>
        </p:txBody>
      </p:sp>
      <p:graphicFrame>
        <p:nvGraphicFramePr>
          <p:cNvPr id="10" name="Content Placeholder 8" descr="A blue line representing customer service tickets. The line is slowly going up.">
            <a:extLst>
              <a:ext uri="{FF2B5EF4-FFF2-40B4-BE49-F238E27FC236}">
                <a16:creationId xmlns:a16="http://schemas.microsoft.com/office/drawing/2014/main" id="{1D664024-E7A7-46D2-AE5E-65C924FEE154}"/>
              </a:ext>
            </a:extLst>
          </p:cNvPr>
          <p:cNvGraphicFramePr>
            <a:graphicFrameLocks/>
          </p:cNvGraphicFramePr>
          <p:nvPr>
            <p:extLst>
              <p:ext uri="{D42A27DB-BD31-4B8C-83A1-F6EECF244321}">
                <p14:modId xmlns:p14="http://schemas.microsoft.com/office/powerpoint/2010/main" val="144842755"/>
              </p:ext>
            </p:extLst>
          </p:nvPr>
        </p:nvGraphicFramePr>
        <p:xfrm>
          <a:off x="431172" y="737294"/>
          <a:ext cx="11123613" cy="490537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8A67F35F-17E8-C2CC-B9F0-D45B72F3CCB3}"/>
              </a:ext>
            </a:extLst>
          </p:cNvPr>
          <p:cNvSpPr txBox="1"/>
          <p:nvPr/>
        </p:nvSpPr>
        <p:spPr>
          <a:xfrm>
            <a:off x="470500" y="5642669"/>
            <a:ext cx="10382864" cy="276999"/>
          </a:xfrm>
          <a:prstGeom prst="rect">
            <a:avLst/>
          </a:prstGeom>
          <a:noFill/>
        </p:spPr>
        <p:txBody>
          <a:bodyPr wrap="square" rtlCol="0">
            <a:spAutoFit/>
          </a:bodyPr>
          <a:lstStyle/>
          <a:p>
            <a:r>
              <a:rPr lang="en-US" sz="1200" dirty="0">
                <a:solidFill>
                  <a:schemeClr val="bg1">
                    <a:lumMod val="65000"/>
                  </a:schemeClr>
                </a:solidFill>
                <a:latin typeface="Arial" panose="020B0604020202020204" pitchFamily="34" charset="0"/>
                <a:cs typeface="Arial" panose="020B0604020202020204" pitchFamily="34" charset="0"/>
              </a:rPr>
              <a:t>Data source: Dataset Streaming Service.</a:t>
            </a:r>
          </a:p>
        </p:txBody>
      </p:sp>
      <p:sp>
        <p:nvSpPr>
          <p:cNvPr id="6" name="Slide Number Placeholder 5">
            <a:extLst>
              <a:ext uri="{FF2B5EF4-FFF2-40B4-BE49-F238E27FC236}">
                <a16:creationId xmlns:a16="http://schemas.microsoft.com/office/drawing/2014/main" id="{80FCD51F-2E74-D6C1-1499-325796927885}"/>
              </a:ext>
            </a:extLst>
          </p:cNvPr>
          <p:cNvSpPr>
            <a:spLocks noGrp="1"/>
          </p:cNvSpPr>
          <p:nvPr>
            <p:ph type="sldNum" sz="quarter" idx="12"/>
          </p:nvPr>
        </p:nvSpPr>
        <p:spPr/>
        <p:txBody>
          <a:bodyPr/>
          <a:lstStyle/>
          <a:p>
            <a:fld id="{84C450F2-3BB4-4AE4-8A35-A9D7AEA4C850}" type="slidenum">
              <a:rPr lang="en-US" smtClean="0"/>
              <a:t>4</a:t>
            </a:fld>
            <a:endParaRPr lang="en-US" dirty="0"/>
          </a:p>
        </p:txBody>
      </p:sp>
    </p:spTree>
    <p:extLst>
      <p:ext uri="{BB962C8B-B14F-4D97-AF65-F5344CB8AC3E}">
        <p14:creationId xmlns:p14="http://schemas.microsoft.com/office/powerpoint/2010/main" val="140896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Graphic spid="10"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DF5CA-33BB-C8AB-C654-47051776D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A4949-585C-E786-9BEE-C63054A96D65}"/>
              </a:ext>
            </a:extLst>
          </p:cNvPr>
          <p:cNvSpPr>
            <a:spLocks noGrp="1"/>
          </p:cNvSpPr>
          <p:nvPr>
            <p:ph type="title"/>
          </p:nvPr>
        </p:nvSpPr>
        <p:spPr>
          <a:xfrm>
            <a:off x="431172" y="373626"/>
            <a:ext cx="11125032" cy="461990"/>
          </a:xfrm>
        </p:spPr>
        <p:txBody>
          <a:bodyPr>
            <a:normAutofit/>
          </a:bodyPr>
          <a:lstStyle/>
          <a:p>
            <a:r>
              <a:rPr lang="en-US" sz="2400" cap="none" dirty="0">
                <a:solidFill>
                  <a:srgbClr val="0070C0"/>
                </a:solidFill>
                <a:latin typeface="Arial" panose="020B0604020202020204" pitchFamily="34" charset="0"/>
                <a:cs typeface="Arial" panose="020B0604020202020204" pitchFamily="34" charset="0"/>
              </a:rPr>
              <a:t>Users </a:t>
            </a:r>
            <a:r>
              <a:rPr lang="en-US" sz="2400" b="1" cap="none" dirty="0">
                <a:solidFill>
                  <a:srgbClr val="0070C0"/>
                </a:solidFill>
                <a:latin typeface="Arial" panose="020B0604020202020204" pitchFamily="34" charset="0"/>
                <a:cs typeface="Arial" panose="020B0604020202020204" pitchFamily="34" charset="0"/>
              </a:rPr>
              <a:t>prefer feature Y </a:t>
            </a:r>
            <a:r>
              <a:rPr lang="en-US" sz="2400" cap="none" dirty="0">
                <a:solidFill>
                  <a:srgbClr val="0070C0"/>
                </a:solidFill>
                <a:latin typeface="Arial" panose="020B0604020202020204" pitchFamily="34" charset="0"/>
                <a:cs typeface="Arial" panose="020B0604020202020204" pitchFamily="34" charset="0"/>
              </a:rPr>
              <a:t>over feature X.</a:t>
            </a:r>
          </a:p>
        </p:txBody>
      </p:sp>
      <p:sp>
        <p:nvSpPr>
          <p:cNvPr id="7" name="Content Placeholder 6">
            <a:extLst>
              <a:ext uri="{FF2B5EF4-FFF2-40B4-BE49-F238E27FC236}">
                <a16:creationId xmlns:a16="http://schemas.microsoft.com/office/drawing/2014/main" id="{D463D5E4-DD93-1D2D-36C6-58EB2B0E181D}"/>
              </a:ext>
            </a:extLst>
          </p:cNvPr>
          <p:cNvSpPr>
            <a:spLocks noGrp="1"/>
          </p:cNvSpPr>
          <p:nvPr>
            <p:ph idx="1"/>
          </p:nvPr>
        </p:nvSpPr>
        <p:spPr>
          <a:xfrm>
            <a:off x="431172" y="976442"/>
            <a:ext cx="5861473" cy="3428410"/>
          </a:xfrm>
        </p:spPr>
        <p:txBody>
          <a:bodyPr>
            <a:normAutofit/>
          </a:bodyPr>
          <a:lstStyle/>
          <a:p>
            <a:pPr marL="0" indent="0">
              <a:buNone/>
            </a:pPr>
            <a:r>
              <a:rPr lang="en-US" sz="2800" dirty="0">
                <a:latin typeface="Arial" panose="020B0604020202020204" pitchFamily="34" charset="0"/>
                <a:cs typeface="Arial" panose="020B0604020202020204" pitchFamily="34" charset="0"/>
              </a:rPr>
              <a:t>Usage of feature X decreased by</a:t>
            </a:r>
          </a:p>
          <a:p>
            <a:pPr marL="0" indent="0">
              <a:buNone/>
            </a:pPr>
            <a:r>
              <a:rPr lang="en-US" sz="5400" b="1" dirty="0">
                <a:solidFill>
                  <a:srgbClr val="0070C0"/>
                </a:solidFill>
                <a:latin typeface="Arial" panose="020B0604020202020204" pitchFamily="34" charset="0"/>
                <a:cs typeface="Arial" panose="020B0604020202020204" pitchFamily="34" charset="0"/>
              </a:rPr>
              <a:t>10%</a:t>
            </a:r>
          </a:p>
          <a:p>
            <a:pPr marL="0" indent="0">
              <a:buNone/>
            </a:pPr>
            <a:r>
              <a:rPr lang="en-US" sz="2800" dirty="0">
                <a:latin typeface="Arial" panose="020B0604020202020204" pitchFamily="34" charset="0"/>
                <a:cs typeface="Arial" panose="020B0604020202020204" pitchFamily="34" charset="0"/>
              </a:rPr>
              <a:t>While use of feature Y increased by</a:t>
            </a:r>
          </a:p>
          <a:p>
            <a:pPr marL="0" indent="0">
              <a:buNone/>
            </a:pPr>
            <a:r>
              <a:rPr lang="en-US" sz="5400" b="1" dirty="0">
                <a:solidFill>
                  <a:srgbClr val="0070C0"/>
                </a:solidFill>
                <a:latin typeface="Arial" panose="020B0604020202020204" pitchFamily="34" charset="0"/>
                <a:cs typeface="Arial" panose="020B0604020202020204" pitchFamily="34" charset="0"/>
              </a:rPr>
              <a:t>9%</a:t>
            </a:r>
            <a:r>
              <a:rPr lang="en-US" sz="5400" dirty="0">
                <a:latin typeface="Arial" panose="020B0604020202020204" pitchFamily="34" charset="0"/>
                <a:cs typeface="Arial" panose="020B0604020202020204" pitchFamily="34" charset="0"/>
              </a:rPr>
              <a:t>.</a:t>
            </a:r>
          </a:p>
        </p:txBody>
      </p:sp>
      <p:sp>
        <p:nvSpPr>
          <p:cNvPr id="3" name="TextBox 2">
            <a:extLst>
              <a:ext uri="{FF2B5EF4-FFF2-40B4-BE49-F238E27FC236}">
                <a16:creationId xmlns:a16="http://schemas.microsoft.com/office/drawing/2014/main" id="{41D91D67-E9A3-E67B-7320-3C0250BC4097}"/>
              </a:ext>
            </a:extLst>
          </p:cNvPr>
          <p:cNvSpPr txBox="1"/>
          <p:nvPr/>
        </p:nvSpPr>
        <p:spPr>
          <a:xfrm>
            <a:off x="431172" y="4545678"/>
            <a:ext cx="10382864" cy="276999"/>
          </a:xfrm>
          <a:prstGeom prst="rect">
            <a:avLst/>
          </a:prstGeom>
          <a:noFill/>
        </p:spPr>
        <p:txBody>
          <a:bodyPr wrap="square" rtlCol="0">
            <a:spAutoFit/>
          </a:bodyPr>
          <a:lstStyle/>
          <a:p>
            <a:r>
              <a:rPr lang="en-US" sz="1200" dirty="0">
                <a:solidFill>
                  <a:schemeClr val="bg1">
                    <a:lumMod val="65000"/>
                  </a:schemeClr>
                </a:solidFill>
                <a:latin typeface="Arial" panose="020B0604020202020204" pitchFamily="34" charset="0"/>
                <a:cs typeface="Arial" panose="020B0604020202020204" pitchFamily="34" charset="0"/>
              </a:rPr>
              <a:t>Data source: Dataset Streaming Service.</a:t>
            </a:r>
          </a:p>
        </p:txBody>
      </p:sp>
      <p:sp>
        <p:nvSpPr>
          <p:cNvPr id="6" name="Slide Number Placeholder 5">
            <a:extLst>
              <a:ext uri="{FF2B5EF4-FFF2-40B4-BE49-F238E27FC236}">
                <a16:creationId xmlns:a16="http://schemas.microsoft.com/office/drawing/2014/main" id="{81DAB217-E7EA-9CD9-AB46-36558A785766}"/>
              </a:ext>
            </a:extLst>
          </p:cNvPr>
          <p:cNvSpPr>
            <a:spLocks noGrp="1"/>
          </p:cNvSpPr>
          <p:nvPr>
            <p:ph type="sldNum" sz="quarter" idx="12"/>
          </p:nvPr>
        </p:nvSpPr>
        <p:spPr/>
        <p:txBody>
          <a:bodyPr/>
          <a:lstStyle/>
          <a:p>
            <a:fld id="{84C450F2-3BB4-4AE4-8A35-A9D7AEA4C850}" type="slidenum">
              <a:rPr lang="en-US" smtClean="0"/>
              <a:t>5</a:t>
            </a:fld>
            <a:endParaRPr lang="en-US" dirty="0"/>
          </a:p>
        </p:txBody>
      </p:sp>
    </p:spTree>
    <p:extLst>
      <p:ext uri="{BB962C8B-B14F-4D97-AF65-F5344CB8AC3E}">
        <p14:creationId xmlns:p14="http://schemas.microsoft.com/office/powerpoint/2010/main" val="466743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BF7F-D425-7346-13AB-40F4762BE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2F1C5-E097-23BD-6DAE-E5029DD086F0}"/>
              </a:ext>
            </a:extLst>
          </p:cNvPr>
          <p:cNvSpPr>
            <a:spLocks noGrp="1"/>
          </p:cNvSpPr>
          <p:nvPr>
            <p:ph type="title"/>
          </p:nvPr>
        </p:nvSpPr>
        <p:spPr>
          <a:xfrm>
            <a:off x="431172" y="373626"/>
            <a:ext cx="11125032" cy="461990"/>
          </a:xfrm>
        </p:spPr>
        <p:txBody>
          <a:bodyPr>
            <a:normAutofit/>
          </a:bodyPr>
          <a:lstStyle/>
          <a:p>
            <a:r>
              <a:rPr lang="en-US" sz="2400" cap="none" dirty="0">
                <a:solidFill>
                  <a:srgbClr val="0070C0"/>
                </a:solidFill>
                <a:latin typeface="Arial" panose="020B0604020202020204" pitchFamily="34" charset="0"/>
                <a:cs typeface="Arial" panose="020B0604020202020204" pitchFamily="34" charset="0"/>
              </a:rPr>
              <a:t>New users </a:t>
            </a:r>
            <a:r>
              <a:rPr lang="en-US" sz="2400" b="1" cap="none" dirty="0">
                <a:solidFill>
                  <a:srgbClr val="0070C0"/>
                </a:solidFill>
                <a:latin typeface="Arial" panose="020B0604020202020204" pitchFamily="34" charset="0"/>
                <a:cs typeface="Arial" panose="020B0604020202020204" pitchFamily="34" charset="0"/>
              </a:rPr>
              <a:t>prefer to redeem promotion B </a:t>
            </a:r>
            <a:r>
              <a:rPr lang="en-US" sz="2400" cap="none" dirty="0">
                <a:solidFill>
                  <a:srgbClr val="0070C0"/>
                </a:solidFill>
                <a:latin typeface="Arial" panose="020B0604020202020204" pitchFamily="34" charset="0"/>
                <a:cs typeface="Arial" panose="020B0604020202020204" pitchFamily="34" charset="0"/>
              </a:rPr>
              <a:t>over promotion A</a:t>
            </a:r>
          </a:p>
        </p:txBody>
      </p:sp>
      <p:graphicFrame>
        <p:nvGraphicFramePr>
          <p:cNvPr id="9" name="Content Placeholder 8" descr="A horizontal bar chart titled: promotions redeemed by new customers. Promotion A redeemed is marked by orange bars, Promotion B redeemed is marked by blue bars. From January to May, the orange bars steadily decrease while the blue bars increase.">
            <a:extLst>
              <a:ext uri="{FF2B5EF4-FFF2-40B4-BE49-F238E27FC236}">
                <a16:creationId xmlns:a16="http://schemas.microsoft.com/office/drawing/2014/main" id="{5A158DF2-FF85-91C8-AE47-7F0FDA2E3561}"/>
              </a:ext>
            </a:extLst>
          </p:cNvPr>
          <p:cNvGraphicFramePr>
            <a:graphicFrameLocks noGrp="1"/>
          </p:cNvGraphicFramePr>
          <p:nvPr>
            <p:ph idx="1"/>
            <p:extLst>
              <p:ext uri="{D42A27DB-BD31-4B8C-83A1-F6EECF244321}">
                <p14:modId xmlns:p14="http://schemas.microsoft.com/office/powerpoint/2010/main" val="1265019735"/>
              </p:ext>
            </p:extLst>
          </p:nvPr>
        </p:nvGraphicFramePr>
        <p:xfrm>
          <a:off x="431881" y="757944"/>
          <a:ext cx="11123613" cy="490537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3C07DBC3-7E88-04CC-7FCC-39EECD289CF6}"/>
              </a:ext>
            </a:extLst>
          </p:cNvPr>
          <p:cNvSpPr txBox="1"/>
          <p:nvPr/>
        </p:nvSpPr>
        <p:spPr>
          <a:xfrm>
            <a:off x="431172" y="5663319"/>
            <a:ext cx="10382864" cy="276999"/>
          </a:xfrm>
          <a:prstGeom prst="rect">
            <a:avLst/>
          </a:prstGeom>
          <a:noFill/>
        </p:spPr>
        <p:txBody>
          <a:bodyPr wrap="square" rtlCol="0">
            <a:spAutoFit/>
          </a:bodyPr>
          <a:lstStyle/>
          <a:p>
            <a:r>
              <a:rPr lang="en-US" sz="1200" dirty="0">
                <a:solidFill>
                  <a:schemeClr val="bg1">
                    <a:lumMod val="65000"/>
                  </a:schemeClr>
                </a:solidFill>
                <a:latin typeface="Arial" panose="020B0604020202020204" pitchFamily="34" charset="0"/>
                <a:cs typeface="Arial" panose="020B0604020202020204" pitchFamily="34" charset="0"/>
              </a:rPr>
              <a:t>Data source: Dataset Streaming Service.</a:t>
            </a:r>
          </a:p>
        </p:txBody>
      </p:sp>
      <p:sp>
        <p:nvSpPr>
          <p:cNvPr id="6" name="Slide Number Placeholder 5">
            <a:extLst>
              <a:ext uri="{FF2B5EF4-FFF2-40B4-BE49-F238E27FC236}">
                <a16:creationId xmlns:a16="http://schemas.microsoft.com/office/drawing/2014/main" id="{4954481E-DE45-268B-62F3-28C0370CDC7C}"/>
              </a:ext>
            </a:extLst>
          </p:cNvPr>
          <p:cNvSpPr>
            <a:spLocks noGrp="1"/>
          </p:cNvSpPr>
          <p:nvPr>
            <p:ph type="sldNum" sz="quarter" idx="12"/>
          </p:nvPr>
        </p:nvSpPr>
        <p:spPr/>
        <p:txBody>
          <a:bodyPr/>
          <a:lstStyle/>
          <a:p>
            <a:fld id="{84C450F2-3BB4-4AE4-8A35-A9D7AEA4C850}" type="slidenum">
              <a:rPr lang="en-US" smtClean="0"/>
              <a:t>6</a:t>
            </a:fld>
            <a:endParaRPr lang="en-US" dirty="0"/>
          </a:p>
        </p:txBody>
      </p:sp>
    </p:spTree>
    <p:extLst>
      <p:ext uri="{BB962C8B-B14F-4D97-AF65-F5344CB8AC3E}">
        <p14:creationId xmlns:p14="http://schemas.microsoft.com/office/powerpoint/2010/main" val="226866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8310A-5262-0559-7D89-D14C0944C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589ED-F65E-6C18-EDCF-C165A3649D73}"/>
              </a:ext>
            </a:extLst>
          </p:cNvPr>
          <p:cNvSpPr>
            <a:spLocks noGrp="1"/>
          </p:cNvSpPr>
          <p:nvPr>
            <p:ph type="title"/>
          </p:nvPr>
        </p:nvSpPr>
        <p:spPr>
          <a:xfrm>
            <a:off x="431172" y="254000"/>
            <a:ext cx="11125032" cy="672854"/>
          </a:xfrm>
        </p:spPr>
        <p:txBody>
          <a:bodyPr>
            <a:normAutofit fontScale="90000"/>
          </a:bodyPr>
          <a:lstStyle/>
          <a:p>
            <a:r>
              <a:rPr lang="en-US" sz="2400" cap="none" dirty="0">
                <a:solidFill>
                  <a:srgbClr val="0070C0"/>
                </a:solidFill>
                <a:latin typeface="Arial" panose="020B0604020202020204" pitchFamily="34" charset="0"/>
                <a:cs typeface="Arial" panose="020B0604020202020204" pitchFamily="34" charset="0"/>
              </a:rPr>
              <a:t>To prevent further customer churn, </a:t>
            </a:r>
            <a:r>
              <a:rPr lang="en-US" sz="2400" b="1" cap="none" dirty="0">
                <a:solidFill>
                  <a:srgbClr val="0070C0"/>
                </a:solidFill>
                <a:latin typeface="Arial" panose="020B0604020202020204" pitchFamily="34" charset="0"/>
                <a:cs typeface="Arial" panose="020B0604020202020204" pitchFamily="34" charset="0"/>
              </a:rPr>
              <a:t>I recommend that you focus on app crash rates, and promote subscription option B</a:t>
            </a:r>
          </a:p>
        </p:txBody>
      </p:sp>
      <p:graphicFrame>
        <p:nvGraphicFramePr>
          <p:cNvPr id="10" name="Content Placeholder 8" descr="The Daily customer support ticket graph from slide 4. Nothing has changed. The y-axis represetns the number of tickets submitted, and the x-axis represents the months from January to May. A blue line is steadily going up on the graph.">
            <a:extLst>
              <a:ext uri="{FF2B5EF4-FFF2-40B4-BE49-F238E27FC236}">
                <a16:creationId xmlns:a16="http://schemas.microsoft.com/office/drawing/2014/main" id="{D8840B92-1098-132C-824D-B38166BD6E73}"/>
              </a:ext>
            </a:extLst>
          </p:cNvPr>
          <p:cNvGraphicFramePr>
            <a:graphicFrameLocks/>
          </p:cNvGraphicFramePr>
          <p:nvPr>
            <p:extLst>
              <p:ext uri="{D42A27DB-BD31-4B8C-83A1-F6EECF244321}">
                <p14:modId xmlns:p14="http://schemas.microsoft.com/office/powerpoint/2010/main" val="2063791916"/>
              </p:ext>
            </p:extLst>
          </p:nvPr>
        </p:nvGraphicFramePr>
        <p:xfrm>
          <a:off x="408965" y="1144024"/>
          <a:ext cx="5584723" cy="39297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ontent Placeholder 8" descr="The promotions redeemed graph from slide 6. One change has occured: The bars saying how many users redeemed promotion B are now gray.">
            <a:extLst>
              <a:ext uri="{FF2B5EF4-FFF2-40B4-BE49-F238E27FC236}">
                <a16:creationId xmlns:a16="http://schemas.microsoft.com/office/drawing/2014/main" id="{48A803E2-0F5F-C95E-8E55-8B97F7E400EA}"/>
              </a:ext>
            </a:extLst>
          </p:cNvPr>
          <p:cNvGraphicFramePr>
            <a:graphicFrameLocks/>
          </p:cNvGraphicFramePr>
          <p:nvPr>
            <p:extLst>
              <p:ext uri="{D42A27DB-BD31-4B8C-83A1-F6EECF244321}">
                <p14:modId xmlns:p14="http://schemas.microsoft.com/office/powerpoint/2010/main" val="4269009764"/>
              </p:ext>
            </p:extLst>
          </p:nvPr>
        </p:nvGraphicFramePr>
        <p:xfrm>
          <a:off x="5993688" y="1144024"/>
          <a:ext cx="6202599" cy="3885176"/>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179CB262-C74E-5857-0B8E-35508F0C53F1}"/>
              </a:ext>
            </a:extLst>
          </p:cNvPr>
          <p:cNvSpPr txBox="1"/>
          <p:nvPr/>
        </p:nvSpPr>
        <p:spPr>
          <a:xfrm>
            <a:off x="431172" y="5335504"/>
            <a:ext cx="10382864" cy="276999"/>
          </a:xfrm>
          <a:prstGeom prst="rect">
            <a:avLst/>
          </a:prstGeom>
          <a:noFill/>
        </p:spPr>
        <p:txBody>
          <a:bodyPr wrap="square" rtlCol="0">
            <a:spAutoFit/>
          </a:bodyPr>
          <a:lstStyle/>
          <a:p>
            <a:r>
              <a:rPr lang="en-US" sz="1200" dirty="0">
                <a:solidFill>
                  <a:schemeClr val="bg1">
                    <a:lumMod val="65000"/>
                  </a:schemeClr>
                </a:solidFill>
                <a:latin typeface="Arial" panose="020B0604020202020204" pitchFamily="34" charset="0"/>
                <a:cs typeface="Arial" panose="020B0604020202020204" pitchFamily="34" charset="0"/>
              </a:rPr>
              <a:t>Data source: Dataset Streaming Service.</a:t>
            </a:r>
          </a:p>
        </p:txBody>
      </p:sp>
      <p:sp>
        <p:nvSpPr>
          <p:cNvPr id="6" name="Slide Number Placeholder 5">
            <a:extLst>
              <a:ext uri="{FF2B5EF4-FFF2-40B4-BE49-F238E27FC236}">
                <a16:creationId xmlns:a16="http://schemas.microsoft.com/office/drawing/2014/main" id="{D156E65A-2459-258B-31B4-C58236C4AF9B}"/>
              </a:ext>
            </a:extLst>
          </p:cNvPr>
          <p:cNvSpPr>
            <a:spLocks noGrp="1"/>
          </p:cNvSpPr>
          <p:nvPr>
            <p:ph type="sldNum" sz="quarter" idx="12"/>
          </p:nvPr>
        </p:nvSpPr>
        <p:spPr/>
        <p:txBody>
          <a:bodyPr/>
          <a:lstStyle/>
          <a:p>
            <a:fld id="{84C450F2-3BB4-4AE4-8A35-A9D7AEA4C850}" type="slidenum">
              <a:rPr lang="en-US" smtClean="0"/>
              <a:t>7</a:t>
            </a:fld>
            <a:endParaRPr lang="en-US" dirty="0"/>
          </a:p>
        </p:txBody>
      </p:sp>
    </p:spTree>
    <p:extLst>
      <p:ext uri="{BB962C8B-B14F-4D97-AF65-F5344CB8AC3E}">
        <p14:creationId xmlns:p14="http://schemas.microsoft.com/office/powerpoint/2010/main" val="532898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0B8D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33F62-617D-7629-3160-2984D626B0E2}"/>
              </a:ext>
            </a:extLst>
          </p:cNvPr>
          <p:cNvSpPr>
            <a:spLocks noGrp="1"/>
          </p:cNvSpPr>
          <p:nvPr>
            <p:ph type="title"/>
          </p:nvPr>
        </p:nvSpPr>
        <p:spPr>
          <a:xfrm>
            <a:off x="431172" y="5477128"/>
            <a:ext cx="4881057" cy="948613"/>
          </a:xfrm>
        </p:spPr>
        <p:txBody>
          <a:bodyPr/>
          <a:lstStyle/>
          <a:p>
            <a:r>
              <a:rPr lang="en-US" dirty="0">
                <a:solidFill>
                  <a:schemeClr val="bg2"/>
                </a:solidFill>
              </a:rPr>
              <a:t>Thank you</a:t>
            </a:r>
          </a:p>
        </p:txBody>
      </p:sp>
      <p:sp>
        <p:nvSpPr>
          <p:cNvPr id="6" name="Slide Number Placeholder 5">
            <a:extLst>
              <a:ext uri="{FF2B5EF4-FFF2-40B4-BE49-F238E27FC236}">
                <a16:creationId xmlns:a16="http://schemas.microsoft.com/office/drawing/2014/main" id="{C4977B7C-E17A-AD76-BF78-BBEAADB59E78}"/>
              </a:ext>
            </a:extLst>
          </p:cNvPr>
          <p:cNvSpPr>
            <a:spLocks noGrp="1"/>
          </p:cNvSpPr>
          <p:nvPr>
            <p:ph type="sldNum" sz="quarter" idx="12"/>
          </p:nvPr>
        </p:nvSpPr>
        <p:spPr/>
        <p:txBody>
          <a:bodyPr/>
          <a:lstStyle/>
          <a:p>
            <a:fld id="{84C450F2-3BB4-4AE4-8A35-A9D7AEA4C850}" type="slidenum">
              <a:rPr lang="en-US" smtClean="0">
                <a:solidFill>
                  <a:schemeClr val="bg1"/>
                </a:solidFill>
              </a:rPr>
              <a:t>8</a:t>
            </a:fld>
            <a:endParaRPr lang="en-US" dirty="0">
              <a:solidFill>
                <a:schemeClr val="bg1"/>
              </a:solidFill>
            </a:endParaRPr>
          </a:p>
        </p:txBody>
      </p:sp>
    </p:spTree>
    <p:extLst>
      <p:ext uri="{BB962C8B-B14F-4D97-AF65-F5344CB8AC3E}">
        <p14:creationId xmlns:p14="http://schemas.microsoft.com/office/powerpoint/2010/main" val="2109345880"/>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2.xml><?xml version="1.0" encoding="utf-8"?>
<ds:datastoreItem xmlns:ds="http://schemas.openxmlformats.org/officeDocument/2006/customXml" ds:itemID="{BD6282DC-5D67-4C19-9A05-C65D9BF7BC7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2135656-72CC-4564-823F-B30D02996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{3D031F24-2919-414E-84B1-D82A2F81453D}05f950ec-c865-457c-93ae-9eb2ef1c603f-TFa19fa653-f273-4169-96ef-448bb1cd1027_win32</Template>
  <TotalTime>1001</TotalTime>
  <Words>1197</Words>
  <Application>Microsoft Office PowerPoint</Application>
  <PresentationFormat>Widescreen</PresentationFormat>
  <Paragraphs>85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Neue Haas Grotesk Text Pro</vt:lpstr>
      <vt:lpstr>OasisVTI</vt:lpstr>
      <vt:lpstr>Customer Cancellation Analysis</vt:lpstr>
      <vt:lpstr>In this presentation…</vt:lpstr>
      <vt:lpstr>The rate of new signs ups per month are now equal to cancellations per month</vt:lpstr>
      <vt:lpstr>Poor app performance negatively impacts customer experience</vt:lpstr>
      <vt:lpstr>Users prefer feature Y over feature X.</vt:lpstr>
      <vt:lpstr>New users prefer to redeem promotion B over promotion A</vt:lpstr>
      <vt:lpstr>To prevent further customer churn, I recommend that you focus on app crash rates, and promote subscription option B</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miyah jordan</dc:creator>
  <cp:lastModifiedBy>miyah jordan</cp:lastModifiedBy>
  <cp:revision>9</cp:revision>
  <dcterms:created xsi:type="dcterms:W3CDTF">2026-04-24T20:51:47Z</dcterms:created>
  <dcterms:modified xsi:type="dcterms:W3CDTF">2026-05-02T03:03:21Z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